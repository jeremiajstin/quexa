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d51824e3c54277" /><Relationship Type="http://schemas.openxmlformats.org/officeDocument/2006/relationships/extended-properties" Target="/docProps/app.xml" Id="R162fc839bd274edd" /><Relationship Type="http://schemas.openxmlformats.org/officeDocument/2006/relationships/officeDocument" Target="/ppt/presentation.xml" Id="R0b0d829ed4374cb8" /></Relationships>
</file>

<file path=ppt/presentation.xml><?xml version="1.0" encoding="utf-8"?>
<p:presentation xmlns:p="http://schemas.openxmlformats.org/presentationml/2006/main">
  <p:sldMasterIdLst>
    <p:sldMasterId xmlns:r="http://schemas.openxmlformats.org/officeDocument/2006/relationships" id="2147483648" r:id="R30bf5deef19c46cb"/>
  </p:sldMasterIdLst>
  <p:notesMasterIdLst>
    <p:notesMasterId xmlns:r="http://schemas.openxmlformats.org/officeDocument/2006/relationships" r:id="Rd52943d8e58b4c34"/>
  </p:notesMasterIdLst>
  <p:sldIdLst>
    <p:sldId xmlns:r="http://schemas.openxmlformats.org/officeDocument/2006/relationships" id="256" r:id="R36b61fd6f9c7448b"/>
    <p:sldId xmlns:r="http://schemas.openxmlformats.org/officeDocument/2006/relationships" id="257" r:id="R90f3e8af484c4d01"/>
    <p:sldId xmlns:r="http://schemas.openxmlformats.org/officeDocument/2006/relationships" id="258" r:id="R6d10bc4535604e53"/>
    <p:sldId xmlns:r="http://schemas.openxmlformats.org/officeDocument/2006/relationships" id="259" r:id="Rdeaa35c63dfd4975"/>
    <p:sldId xmlns:r="http://schemas.openxmlformats.org/officeDocument/2006/relationships" id="260" r:id="R1a5a6ed5c13f4448"/>
    <p:sldId xmlns:r="http://schemas.openxmlformats.org/officeDocument/2006/relationships" id="261" r:id="Rca948efd9ee940ab"/>
    <p:sldId xmlns:r="http://schemas.openxmlformats.org/officeDocument/2006/relationships" id="262" r:id="Re36663d86cc54ec7"/>
    <p:sldId xmlns:r="http://schemas.openxmlformats.org/officeDocument/2006/relationships" id="263" r:id="Rc2c889fecc8347b7"/>
    <p:sldId xmlns:r="http://schemas.openxmlformats.org/officeDocument/2006/relationships" id="264" r:id="R05eb713ce0d04658"/>
    <p:sldId xmlns:r="http://schemas.openxmlformats.org/officeDocument/2006/relationships" id="265" r:id="R3bf28978909a4c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460b3aa0f94275" /><Relationship Type="http://schemas.openxmlformats.org/officeDocument/2006/relationships/slideMaster" Target="/ppt/slideMasters/slideMaster1.xml" Id="R30bf5deef19c46cb" /><Relationship Type="http://schemas.openxmlformats.org/officeDocument/2006/relationships/notesMaster" Target="/ppt/notesMasters/notesMaster1.xml" Id="Rd52943d8e58b4c34" /><Relationship Type="http://schemas.openxmlformats.org/officeDocument/2006/relationships/presProps" Target="/ppt/presProps.xml" Id="R9bc728f335314361" /><Relationship Type="http://schemas.openxmlformats.org/officeDocument/2006/relationships/tableStyles" Target="/ppt/tableStyles.xml" Id="R9966165fd5934dad" /><Relationship Type="http://schemas.openxmlformats.org/officeDocument/2006/relationships/slide" Target="/ppt/slides/slide1.xml" Id="R36b61fd6f9c7448b" /><Relationship Type="http://schemas.openxmlformats.org/officeDocument/2006/relationships/slide" Target="/ppt/slides/slide2.xml" Id="R90f3e8af484c4d01" /><Relationship Type="http://schemas.openxmlformats.org/officeDocument/2006/relationships/slide" Target="/ppt/slides/slide3.xml" Id="R6d10bc4535604e53" /><Relationship Type="http://schemas.openxmlformats.org/officeDocument/2006/relationships/slide" Target="/ppt/slides/slide4.xml" Id="Rdeaa35c63dfd4975" /><Relationship Type="http://schemas.openxmlformats.org/officeDocument/2006/relationships/slide" Target="/ppt/slides/slide5.xml" Id="R1a5a6ed5c13f4448" /><Relationship Type="http://schemas.openxmlformats.org/officeDocument/2006/relationships/slide" Target="/ppt/slides/slide6.xml" Id="Rca948efd9ee940ab" /><Relationship Type="http://schemas.openxmlformats.org/officeDocument/2006/relationships/slide" Target="/ppt/slides/slide7.xml" Id="Re36663d86cc54ec7" /><Relationship Type="http://schemas.openxmlformats.org/officeDocument/2006/relationships/slide" Target="/ppt/slides/slide8.xml" Id="Rc2c889fecc8347b7" /><Relationship Type="http://schemas.openxmlformats.org/officeDocument/2006/relationships/slide" Target="/ppt/slides/slide9.xml" Id="R05eb713ce0d04658" /><Relationship Type="http://schemas.openxmlformats.org/officeDocument/2006/relationships/slide" Target="/ppt/slides/slide10.xml" Id="R3bf28978909a4c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f294bd046846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ab2fd84be245d9" /><Relationship Type="http://schemas.openxmlformats.org/officeDocument/2006/relationships/notesMaster" Target="/ppt/notesMasters/notesMaster1.xml" Id="R25c02fbf566b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8b7d83d7ed4d4a" /><Relationship Type="http://schemas.openxmlformats.org/officeDocument/2006/relationships/notesMaster" Target="/ppt/notesMasters/notesMaster1.xml" Id="R6465aeff0d1548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7197a81a11493c" /><Relationship Type="http://schemas.openxmlformats.org/officeDocument/2006/relationships/notesMaster" Target="/ppt/notesMasters/notesMaster1.xml" Id="Rf8d4c1763e9b4d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76cd53b32444b5" /><Relationship Type="http://schemas.openxmlformats.org/officeDocument/2006/relationships/notesMaster" Target="/ppt/notesMasters/notesMaster1.xml" Id="R862d742131b0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483b39e1ac42ac" /><Relationship Type="http://schemas.openxmlformats.org/officeDocument/2006/relationships/notesMaster" Target="/ppt/notesMasters/notesMaster1.xml" Id="Rc0d376b089e84a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fbda02ffb64bc4" /><Relationship Type="http://schemas.openxmlformats.org/officeDocument/2006/relationships/notesMaster" Target="/ppt/notesMasters/notesMaster1.xml" Id="R717a4648ded345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a7be1096474221" /><Relationship Type="http://schemas.openxmlformats.org/officeDocument/2006/relationships/notesMaster" Target="/ppt/notesMasters/notesMaster1.xml" Id="R0d932ebf3e9c4e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7389d115fb49d6" /><Relationship Type="http://schemas.openxmlformats.org/officeDocument/2006/relationships/notesMaster" Target="/ppt/notesMasters/notesMaster1.xml" Id="R6ed11b4e392246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5d5e25f84147f9" /><Relationship Type="http://schemas.openxmlformats.org/officeDocument/2006/relationships/notesMaster" Target="/ppt/notesMasters/notesMaster1.xml" Id="Re7ee010a281f44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844709bbae409c" /><Relationship Type="http://schemas.openxmlformats.org/officeDocument/2006/relationships/notesMaster" Target="/ppt/notesMasters/notesMaster1.xml" Id="Rcb511227738542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Quexa mengubah materi PDF menjadi kuis interaktif dan latihan penguatan berdasarkan jawaban salah. MVP berjalan lokal melalui IBM Bob dan Langflow.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awal: mahasiswa yang belajar mandiri menggunakan rangkuman dan materi kuliah PDF. Pernyataan masalah merupakan hipotesis kebutuhan pengguna, belum survei populasi.</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Maksimal lima soal awal dan tiga soal lanjutan. Jumlah dapat lebih sedikit jika materi tidak cukup. Kualitas soal dan kutipan masih perlu diperiksa.</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 memanggil tiga workflow melalui MCP Streamable HTTP. Langflow membuat soal dan menjalankan grader Python. Data sesi berada pada konteks percakapan Bob.</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Pengguna memasukkan path PDF yang dapat dibaca Langflow. Bob menampilkan satu soal setiap giliran. Setelah penilaian, pengguna dapat memilih latihan lanjutan. Kuis lanjutan memakai materi yang sama dengan pertanyaan berbeda.</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asli dari demo pengembang. Kunci, pembahasan, dan kutipan muncul setelah jawaban diterima. Kutipan membantu pemeriksaan, tetapi belum menjamin semua soal benar.</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asli laporan hasil sesi. Grader menghitung skor dengan rumus 100 × benar / total soal, dibulatkan dua desimal. Soal dilewati masuk penyebut tetapi tidak otomatis masuk topik retry.</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Enam tes fungsi dan pemeriksaan kualitas satu sesi dilaporkan lulus oleh pengembang. Delapan pemeriksaan kode terpisah pada grader dan parser memakai stub lfx, bukan server Langflow. Belum ada uji multiuser atau evaluasi efektivitas belajar.</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Dampak masih berupa tujuan yang perlu diuji. Rencana pengembangan belum tersedia dalam MVP. Evaluasi berikutnya mengukur waktu persiapan latihan, validitas soal/kutipan, dan perubahan pemahaman sebelum serta sesudah latihan.</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Penutup pitching. Repository proyek: https://github.com/jeremiajstin/Quexa. Proyek masih MVP lokal dengan input path PDF berbasis teks.</a:t>
            </a:r>
          </a:p>
          <a:p xmlns:a="http://schemas.openxmlformats.org/drawingml/2006/main">
            <a:r>
              <a:t>Sumber: implementasi Quexa, README, dokumentasi teknis, dan laporan pengujian Justin Jeremia pada 10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a84d5718974c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657aa8575f40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2e20e4b08b41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4085cc999748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96e0ca4faf4b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2322fb80b843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DE171-2876-4636-A2A4-C0BDA02D79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1385A8-5B3E-4AF2-8C39-5065186622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1AB48A-C029-4DF0-8BF2-10204A7674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DB9913-CE16-4B17-A3C7-35FE49A55B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C26F31-2F79-4EDF-B024-2C8CF70EA6B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D78EA8-045F-4B69-BCA0-0EE6D3FACE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9B0EAD-29EC-450A-B15A-022357C5DD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181EE8-4CBB-4908-AF11-D49A2EEBAE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E8FB7F-F5F2-4678-9D6C-FFB1EBB2F5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762891-31B5-46AD-B287-5F64E9244E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1a24b5144848b1" /><Relationship Type="http://schemas.openxmlformats.org/officeDocument/2006/relationships/slideLayout" Target="/ppt/slideLayouts/slideLayout1.xml" Id="R9a2f909b84b4465f" /><Relationship Type="http://schemas.openxmlformats.org/officeDocument/2006/relationships/slideLayout" Target="/ppt/slideLayouts/slideLayout2.xml" Id="Ra14671e0b5fa44e6" /><Relationship Type="http://schemas.openxmlformats.org/officeDocument/2006/relationships/slideLayout" Target="/ppt/slideLayouts/slideLayout3.xml" Id="Rac25ceba2cec4483" /><Relationship Type="http://schemas.openxmlformats.org/officeDocument/2006/relationships/slideLayout" Target="/ppt/slideLayouts/slideLayout4.xml" Id="R3bde8e5787544909" /><Relationship Type="http://schemas.openxmlformats.org/officeDocument/2006/relationships/slideLayout" Target="/ppt/slideLayouts/slideLayout5.xml" Id="Re6dfa8ba2f7d45b4" /><Relationship Type="http://schemas.openxmlformats.org/officeDocument/2006/relationships/slideLayout" Target="/ppt/slideLayouts/slideLayout6.xml" Id="R46e07cbbf5604c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2f909b84b4465f"/>
    <p:sldLayoutId xmlns:r="http://schemas.openxmlformats.org/officeDocument/2006/relationships" id="2147483650" r:id="Ra14671e0b5fa44e6"/>
    <p:sldLayoutId xmlns:r="http://schemas.openxmlformats.org/officeDocument/2006/relationships" id="2147483651" r:id="Rac25ceba2cec4483"/>
    <p:sldLayoutId xmlns:r="http://schemas.openxmlformats.org/officeDocument/2006/relationships" id="2147483652" r:id="R3bde8e5787544909"/>
    <p:sldLayoutId xmlns:r="http://schemas.openxmlformats.org/officeDocument/2006/relationships" id="2147483653" r:id="Re6dfa8ba2f7d45b4"/>
    <p:sldLayoutId xmlns:r="http://schemas.openxmlformats.org/officeDocument/2006/relationships" id="2147483654" r:id="R46e07cbbf5604c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d2757948954250" /><Relationship Type="http://schemas.openxmlformats.org/officeDocument/2006/relationships/notesSlide" Target="/ppt/notesSlides/notesSlide1.xml" Id="R284526662ee646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db7f6497274f60" /><Relationship Type="http://schemas.openxmlformats.org/officeDocument/2006/relationships/notesSlide" Target="/ppt/notesSlides/notesSlide2.xml" Id="R70266740927b4e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d5e7930c27416c" /><Relationship Type="http://schemas.openxmlformats.org/officeDocument/2006/relationships/notesSlide" Target="/ppt/notesSlides/notesSlide3.xml" Id="Re937a6c795dd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4618bd89c0475d" /><Relationship Type="http://schemas.openxmlformats.org/officeDocument/2006/relationships/notesSlide" Target="/ppt/notesSlides/notesSlide4.xml" Id="R56f7d2a65a8849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5552097edf4897" /><Relationship Type="http://schemas.openxmlformats.org/officeDocument/2006/relationships/notesSlide" Target="/ppt/notesSlides/notesSlide5.xml" Id="R137f5468d1d946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741c9820704c2c" /><Relationship Type="http://schemas.openxmlformats.org/officeDocument/2006/relationships/image" Target="/ppt/media/image.jpeg" Id="R093b9975b5894733" /><Relationship Type="http://schemas.openxmlformats.org/officeDocument/2006/relationships/notesSlide" Target="/ppt/notesSlides/notesSlide6.xml" Id="R841433cb396d44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073d65ba364c7c" /><Relationship Type="http://schemas.openxmlformats.org/officeDocument/2006/relationships/image" Target="/ppt/media/image2.jpeg" Id="R03698ef5d5a340c2" /><Relationship Type="http://schemas.openxmlformats.org/officeDocument/2006/relationships/notesSlide" Target="/ppt/notesSlides/notesSlide7.xml" Id="Rb75cc91038d44b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c8c766355d4d9d" /><Relationship Type="http://schemas.openxmlformats.org/officeDocument/2006/relationships/notesSlide" Target="/ppt/notesSlides/notesSlide8.xml" Id="R0fc215ea800745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03b898e3384a62" /><Relationship Type="http://schemas.openxmlformats.org/officeDocument/2006/relationships/notesSlide" Target="/ppt/notesSlides/notesSlide9.xml" Id="R4746c715ff2d4d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49b9b12b8a4b4c" /><Relationship Type="http://schemas.openxmlformats.org/officeDocument/2006/relationships/notesSlide" Target="/ppt/notesSlides/notesSlide10.xml" Id="Rbce1865d11f349f2"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5" name="Quexa">
            <a:extLst xmlns:a="http://schemas.openxmlformats.org/drawingml/2006/main">
              <a:ext uri="{FF2B5EF4-FFF2-40B4-BE49-F238E27FC236}">
                <a16:creationId xmlns:a16="http://schemas.microsoft.com/office/drawing/2014/main" id="{693B149A-4BF7-4563-974E-A4EE7DEB1207}"/>
              </a:ext>
            </a:extLst>
          </p:cNvPr>
          <p:cNvSpPr>
            <a:spLocks xmlns:a="http://schemas.openxmlformats.org/drawingml/2006/main" noGrp="1"/>
          </p:cNvSpPr>
          <p:nvPr/>
        </p:nvSpPr>
        <p:spPr>
          <a:xfrm xmlns:a="http://schemas.openxmlformats.org/drawingml/2006/main">
            <a:off x="685800" y="158115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8100" b="1">
                <a:solidFill>
                  <a:srgbClr val="FFFFFF"/>
                </a:solidFill>
                <a:latin typeface="Poppins"/>
                <a:ea typeface="Poppins"/>
                <a:cs typeface="Poppins"/>
              </a:defRPr>
            </a:defPPr>
          </a:lstStyle>
          <a:p xmlns:a="http://schemas.openxmlformats.org/drawingml/2006/main">
            <a:pPr>
              <a:defRPr sz="8100" b="1">
                <a:solidFill>
                  <a:srgbClr val="FFFFFF"/>
                </a:solidFill>
                <a:latin typeface="Poppins"/>
                <a:ea typeface="Poppins"/>
                <a:cs typeface="Poppins"/>
              </a:defRPr>
            </a:pPr>
            <a:r>
              <a:rPr sz="8100" b="1">
                <a:solidFill>
                  <a:srgbClr val="FFFFFF"/>
                </a:solidFill>
                <a:latin typeface="Poppins"/>
                <a:ea typeface="Poppins"/>
                <a:cs typeface="Poppins"/>
              </a:rPr>
              <a:t>Quexa</a:t>
            </a:r>
          </a:p>
        </p:txBody>
      </p:sp>
      <p:sp>
        <p:nvSpPr>
          <p:cNvPr id="2" name="AI agent latihan ujian&#10;berbasis materi PDF">
            <a:extLst xmlns:a="http://schemas.openxmlformats.org/drawingml/2006/main">
              <a:ext uri="{FF2B5EF4-FFF2-40B4-BE49-F238E27FC236}">
                <a16:creationId xmlns:a16="http://schemas.microsoft.com/office/drawing/2014/main" id="{6158A54B-A8B7-420B-AC34-0B9FB3315980}"/>
              </a:ext>
            </a:extLst>
          </p:cNvPr>
          <p:cNvSpPr>
            <a:spLocks xmlns:a="http://schemas.openxmlformats.org/drawingml/2006/main" noGrp="1"/>
          </p:cNvSpPr>
          <p:nvPr/>
        </p:nvSpPr>
        <p:spPr>
          <a:xfrm xmlns:a="http://schemas.openxmlformats.org/drawingml/2006/main">
            <a:off x="742950" y="3143250"/>
            <a:ext cx="9525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0">
                <a:solidFill>
                  <a:srgbClr val="FFFFFF"/>
                </a:solidFill>
                <a:latin typeface="Poppins"/>
                <a:ea typeface="Poppins"/>
                <a:cs typeface="Poppins"/>
              </a:defRPr>
            </a:defPPr>
          </a:lstStyle>
          <a:p xmlns:a="http://schemas.openxmlformats.org/drawingml/2006/main">
            <a:pPr>
              <a:defRPr sz="2925" b="0">
                <a:solidFill>
                  <a:srgbClr val="FFFFFF"/>
                </a:solidFill>
                <a:latin typeface="Poppins"/>
                <a:ea typeface="Poppins"/>
                <a:cs typeface="Poppins"/>
              </a:defRPr>
            </a:pPr>
            <a:r>
              <a:rPr sz="2925" b="0">
                <a:solidFill>
                  <a:srgbClr val="FFFFFF"/>
                </a:solidFill>
                <a:latin typeface="Poppins"/>
                <a:ea typeface="Poppins"/>
                <a:cs typeface="Poppins"/>
              </a:rPr>
              <a:t>AI agent latihan ujian</a:t>
            </a:r>
          </a:p>
          <a:p xmlns:a="http://schemas.openxmlformats.org/drawingml/2006/main">
            <a:pPr>
              <a:defRPr sz="2925" b="0">
                <a:solidFill>
                  <a:srgbClr val="FFFFFF"/>
                </a:solidFill>
                <a:latin typeface="Poppins"/>
                <a:ea typeface="Poppins"/>
                <a:cs typeface="Poppins"/>
              </a:defRPr>
            </a:pPr>
            <a:r>
              <a:rPr sz="2925" b="0">
                <a:solidFill>
                  <a:srgbClr val="FFFFFF"/>
                </a:solidFill>
                <a:latin typeface="Poppins"/>
                <a:ea typeface="Poppins"/>
                <a:cs typeface="Poppins"/>
              </a:rPr>
              <a:t>berbasis materi PDF</a:t>
            </a:r>
          </a:p>
        </p:txBody>
      </p:sp>
      <p:sp>
        <p:nvSpPr>
          <p:cNvPr id="3" name="Justin Jeremia">
            <a:extLst xmlns:a="http://schemas.openxmlformats.org/drawingml/2006/main">
              <a:ext uri="{FF2B5EF4-FFF2-40B4-BE49-F238E27FC236}">
                <a16:creationId xmlns:a16="http://schemas.microsoft.com/office/drawing/2014/main" id="{6C20B1B4-8542-4DB3-97F8-3488CBF6C8C3}"/>
              </a:ext>
            </a:extLst>
          </p:cNvPr>
          <p:cNvSpPr>
            <a:spLocks xmlns:a="http://schemas.openxmlformats.org/drawingml/2006/main" noGrp="1"/>
          </p:cNvSpPr>
          <p:nvPr/>
        </p:nvSpPr>
        <p:spPr>
          <a:xfrm xmlns:a="http://schemas.openxmlformats.org/drawingml/2006/main">
            <a:off x="742950" y="54292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FFFFFF"/>
                </a:solidFill>
                <a:latin typeface="Poppins"/>
                <a:ea typeface="Poppins"/>
                <a:cs typeface="Poppins"/>
              </a:defRPr>
            </a:defPPr>
          </a:lstStyle>
          <a:p xmlns:a="http://schemas.openxmlformats.org/drawingml/2006/main">
            <a:pPr>
              <a:defRPr sz="2100" b="1">
                <a:solidFill>
                  <a:srgbClr val="FFFFFF"/>
                </a:solidFill>
                <a:latin typeface="Poppins"/>
                <a:ea typeface="Poppins"/>
                <a:cs typeface="Poppins"/>
              </a:defRPr>
            </a:pPr>
            <a:r>
              <a:rPr sz="2100" b="1">
                <a:solidFill>
                  <a:srgbClr val="FFFFFF"/>
                </a:solidFill>
                <a:latin typeface="Poppins"/>
                <a:ea typeface="Poppins"/>
                <a:cs typeface="Poppins"/>
              </a:rPr>
              <a:t>Justin Jeremia</a:t>
            </a:r>
          </a:p>
        </p:txBody>
      </p:sp>
      <p:sp>
        <p:nvSpPr>
          <p:cNvPr id="4" name="Telkom University">
            <a:extLst xmlns:a="http://schemas.openxmlformats.org/drawingml/2006/main">
              <a:ext uri="{FF2B5EF4-FFF2-40B4-BE49-F238E27FC236}">
                <a16:creationId xmlns:a16="http://schemas.microsoft.com/office/drawing/2014/main" id="{176EFB1A-5D8D-47C5-A350-D52592923E6E}"/>
              </a:ext>
            </a:extLst>
          </p:cNvPr>
          <p:cNvSpPr>
            <a:spLocks xmlns:a="http://schemas.openxmlformats.org/drawingml/2006/main" noGrp="1"/>
          </p:cNvSpPr>
          <p:nvPr/>
        </p:nvSpPr>
        <p:spPr>
          <a:xfrm xmlns:a="http://schemas.openxmlformats.org/drawingml/2006/main">
            <a:off x="742950" y="58674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Telkom University</a:t>
            </a:r>
          </a:p>
        </p:txBody>
      </p:sp>
    </p:spTree>
    <p:extLst>
      <p:ext uri="{BB962C8B-B14F-4D97-AF65-F5344CB8AC3E}">
        <p14:creationId xmlns:p14="http://schemas.microsoft.com/office/powerpoint/2010/main" val="153805585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Masalah dalam persiapan ujian">
            <a:extLst xmlns:a="http://schemas.openxmlformats.org/drawingml/2006/main">
              <a:ext uri="{FF2B5EF4-FFF2-40B4-BE49-F238E27FC236}">
                <a16:creationId xmlns:a16="http://schemas.microsoft.com/office/drawing/2014/main" id="{0854A01B-C1B4-441C-94DB-C822EFA37FD9}"/>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Masalah dalam persiapan ujian</a:t>
            </a:r>
          </a:p>
        </p:txBody>
      </p:sp>
      <p:sp>
        <p:nvSpPr>
          <p:cNvPr id="2" name="02">
            <a:extLst xmlns:a="http://schemas.openxmlformats.org/drawingml/2006/main">
              <a:ext uri="{FF2B5EF4-FFF2-40B4-BE49-F238E27FC236}">
                <a16:creationId xmlns:a16="http://schemas.microsoft.com/office/drawing/2014/main" id="{39D7F95A-6B39-485B-9046-913AAC532D0C}"/>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02</a:t>
            </a:r>
          </a:p>
        </p:txBody>
      </p:sp>
      <p:sp>
        <p:nvSpPr>
          <p:cNvPr id="3" name="01">
            <a:extLst xmlns:a="http://schemas.openxmlformats.org/drawingml/2006/main">
              <a:ext uri="{FF2B5EF4-FFF2-40B4-BE49-F238E27FC236}">
                <a16:creationId xmlns:a16="http://schemas.microsoft.com/office/drawing/2014/main" id="{943AC1AB-8F4B-43E9-B71B-67992EB8D162}"/>
              </a:ext>
            </a:extLst>
          </p:cNvPr>
          <p:cNvSpPr>
            <a:spLocks xmlns:a="http://schemas.openxmlformats.org/drawingml/2006/main" noGrp="1"/>
          </p:cNvSpPr>
          <p:nvPr/>
        </p:nvSpPr>
        <p:spPr>
          <a:xfrm xmlns:a="http://schemas.openxmlformats.org/drawingml/2006/main">
            <a:off x="685800" y="18573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01</a:t>
            </a:r>
          </a:p>
        </p:txBody>
      </p:sp>
      <p:sp>
        <p:nvSpPr>
          <p:cNvPr id="4" name="Materi tersedia, latihan belum tersedia">
            <a:extLst xmlns:a="http://schemas.openxmlformats.org/drawingml/2006/main">
              <a:ext uri="{FF2B5EF4-FFF2-40B4-BE49-F238E27FC236}">
                <a16:creationId xmlns:a16="http://schemas.microsoft.com/office/drawing/2014/main" id="{EEE67793-A41C-4690-B6E6-5E134FAAF7E6}"/>
              </a:ext>
            </a:extLst>
          </p:cNvPr>
          <p:cNvSpPr>
            <a:spLocks xmlns:a="http://schemas.openxmlformats.org/drawingml/2006/main" noGrp="1"/>
          </p:cNvSpPr>
          <p:nvPr/>
        </p:nvSpPr>
        <p:spPr>
          <a:xfrm xmlns:a="http://schemas.openxmlformats.org/drawingml/2006/main">
            <a:off x="1476375" y="185737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Materi tersedia, latihan belum tersedia</a:t>
            </a:r>
          </a:p>
        </p:txBody>
      </p:sp>
      <p:sp>
        <p:nvSpPr>
          <p:cNvPr id="5" name="Mahasiswa perlu menyusun soal sendiri atau me">
            <a:extLst xmlns:a="http://schemas.openxmlformats.org/drawingml/2006/main">
              <a:ext uri="{FF2B5EF4-FFF2-40B4-BE49-F238E27FC236}">
                <a16:creationId xmlns:a16="http://schemas.microsoft.com/office/drawing/2014/main" id="{DF93657B-2C14-46ED-96A6-5901C9479106}"/>
              </a:ext>
            </a:extLst>
          </p:cNvPr>
          <p:cNvSpPr>
            <a:spLocks xmlns:a="http://schemas.openxmlformats.org/drawingml/2006/main" noGrp="1"/>
          </p:cNvSpPr>
          <p:nvPr/>
        </p:nvSpPr>
        <p:spPr>
          <a:xfrm xmlns:a="http://schemas.openxmlformats.org/drawingml/2006/main">
            <a:off x="1476375" y="2381250"/>
            <a:ext cx="962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Mahasiswa perlu menyusun soal sendiri atau mencari latihan yang sesuai materi.</a:t>
            </a:r>
          </a:p>
        </p:txBody>
      </p:sp>
      <p:sp>
        <p:nvSpPr>
          <p:cNvPr id="6" name="02">
            <a:extLst xmlns:a="http://schemas.openxmlformats.org/drawingml/2006/main">
              <a:ext uri="{FF2B5EF4-FFF2-40B4-BE49-F238E27FC236}">
                <a16:creationId xmlns:a16="http://schemas.microsoft.com/office/drawing/2014/main" id="{A548F8AA-6FA2-44B4-9233-9AC444079EF5}"/>
              </a:ext>
            </a:extLst>
          </p:cNvPr>
          <p:cNvSpPr>
            <a:spLocks xmlns:a="http://schemas.openxmlformats.org/drawingml/2006/main" noGrp="1"/>
          </p:cNvSpPr>
          <p:nvPr/>
        </p:nvSpPr>
        <p:spPr>
          <a:xfrm xmlns:a="http://schemas.openxmlformats.org/drawingml/2006/main">
            <a:off x="685800" y="36671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02</a:t>
            </a:r>
          </a:p>
        </p:txBody>
      </p:sp>
      <p:sp>
        <p:nvSpPr>
          <p:cNvPr id="7" name="Kesalahan belum menjadi arah belajar">
            <a:extLst xmlns:a="http://schemas.openxmlformats.org/drawingml/2006/main">
              <a:ext uri="{FF2B5EF4-FFF2-40B4-BE49-F238E27FC236}">
                <a16:creationId xmlns:a16="http://schemas.microsoft.com/office/drawing/2014/main" id="{8EEC5175-8519-48F5-8D79-5989D4FAE84F}"/>
              </a:ext>
            </a:extLst>
          </p:cNvPr>
          <p:cNvSpPr>
            <a:spLocks xmlns:a="http://schemas.openxmlformats.org/drawingml/2006/main" noGrp="1"/>
          </p:cNvSpPr>
          <p:nvPr/>
        </p:nvSpPr>
        <p:spPr>
          <a:xfrm xmlns:a="http://schemas.openxmlformats.org/drawingml/2006/main">
            <a:off x="1476375" y="366712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Kesalahan belum menjadi arah belajar</a:t>
            </a:r>
          </a:p>
        </p:txBody>
      </p:sp>
      <p:sp>
        <p:nvSpPr>
          <p:cNvPr id="8" name="Setelah latihan, mahasiswa perlu menentukan k">
            <a:extLst xmlns:a="http://schemas.openxmlformats.org/drawingml/2006/main">
              <a:ext uri="{FF2B5EF4-FFF2-40B4-BE49-F238E27FC236}">
                <a16:creationId xmlns:a16="http://schemas.microsoft.com/office/drawing/2014/main" id="{3CE1C258-10CA-4DA7-ACD5-76F28832B885}"/>
              </a:ext>
            </a:extLst>
          </p:cNvPr>
          <p:cNvSpPr>
            <a:spLocks xmlns:a="http://schemas.openxmlformats.org/drawingml/2006/main" noGrp="1"/>
          </p:cNvSpPr>
          <p:nvPr/>
        </p:nvSpPr>
        <p:spPr>
          <a:xfrm xmlns:a="http://schemas.openxmlformats.org/drawingml/2006/main">
            <a:off x="1476375" y="4191000"/>
            <a:ext cx="962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Setelah latihan, mahasiswa perlu menentukan konsep yang harus dipelajari kembali.</a:t>
            </a:r>
          </a:p>
        </p:txBody>
      </p:sp>
    </p:spTree>
    <p:extLst>
      <p:ext uri="{BB962C8B-B14F-4D97-AF65-F5344CB8AC3E}">
        <p14:creationId xmlns:p14="http://schemas.microsoft.com/office/powerpoint/2010/main" val="1867446962"/>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Solusi Quexa">
            <a:extLst xmlns:a="http://schemas.openxmlformats.org/drawingml/2006/main">
              <a:ext uri="{FF2B5EF4-FFF2-40B4-BE49-F238E27FC236}">
                <a16:creationId xmlns:a16="http://schemas.microsoft.com/office/drawing/2014/main" id="{4896DAA7-A7DA-4F93-878A-B2620DEF273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Solusi Quexa</a:t>
            </a:r>
          </a:p>
        </p:txBody>
      </p:sp>
      <p:sp>
        <p:nvSpPr>
          <p:cNvPr id="2" name="03">
            <a:extLst xmlns:a="http://schemas.openxmlformats.org/drawingml/2006/main">
              <a:ext uri="{FF2B5EF4-FFF2-40B4-BE49-F238E27FC236}">
                <a16:creationId xmlns:a16="http://schemas.microsoft.com/office/drawing/2014/main" id="{A7FEBB38-0D36-471C-833A-BD039749136B}"/>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03</a:t>
            </a:r>
          </a:p>
        </p:txBody>
      </p:sp>
      <p:sp>
        <p:nvSpPr>
          <p:cNvPr id="3" name="Materi pengguna menjadi latihan&#10;dengan umpan ">
            <a:extLst xmlns:a="http://schemas.openxmlformats.org/drawingml/2006/main">
              <a:ext uri="{FF2B5EF4-FFF2-40B4-BE49-F238E27FC236}">
                <a16:creationId xmlns:a16="http://schemas.microsoft.com/office/drawing/2014/main" id="{794716C7-A28A-4A6C-8CDE-64437FC4DDAE}"/>
              </a:ext>
            </a:extLst>
          </p:cNvPr>
          <p:cNvSpPr>
            <a:spLocks xmlns:a="http://schemas.openxmlformats.org/drawingml/2006/main" noGrp="1"/>
          </p:cNvSpPr>
          <p:nvPr/>
        </p:nvSpPr>
        <p:spPr>
          <a:xfrm xmlns:a="http://schemas.openxmlformats.org/drawingml/2006/main">
            <a:off x="685800" y="18097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FFFFFF"/>
                </a:solidFill>
                <a:latin typeface="Poppins"/>
                <a:ea typeface="Poppins"/>
                <a:cs typeface="Poppins"/>
              </a:defRPr>
            </a:defPPr>
          </a:lstStyle>
          <a:p xmlns:a="http://schemas.openxmlformats.org/drawingml/2006/main">
            <a:pPr>
              <a:defRPr sz="3000" b="1">
                <a:solidFill>
                  <a:srgbClr val="FFFFFF"/>
                </a:solidFill>
                <a:latin typeface="Poppins"/>
                <a:ea typeface="Poppins"/>
                <a:cs typeface="Poppins"/>
              </a:defRPr>
            </a:pPr>
            <a:r>
              <a:rPr sz="3000" b="1">
                <a:solidFill>
                  <a:srgbClr val="FFFFFF"/>
                </a:solidFill>
                <a:latin typeface="Poppins"/>
                <a:ea typeface="Poppins"/>
                <a:cs typeface="Poppins"/>
              </a:rPr>
              <a:t>Materi pengguna menjadi latihan</a:t>
            </a:r>
          </a:p>
          <a:p xmlns:a="http://schemas.openxmlformats.org/drawingml/2006/main">
            <a:pPr>
              <a:defRPr sz="3000" b="1">
                <a:solidFill>
                  <a:srgbClr val="FFFFFF"/>
                </a:solidFill>
                <a:latin typeface="Poppins"/>
                <a:ea typeface="Poppins"/>
                <a:cs typeface="Poppins"/>
              </a:defRPr>
            </a:pPr>
            <a:r>
              <a:rPr sz="3000" b="1">
                <a:solidFill>
                  <a:srgbClr val="FFFFFF"/>
                </a:solidFill>
                <a:latin typeface="Poppins"/>
                <a:ea typeface="Poppins"/>
                <a:cs typeface="Poppins"/>
              </a:rPr>
              <a:t>dengan umpan balik per soal</a:t>
            </a:r>
          </a:p>
        </p:txBody>
      </p:sp>
      <p:sp>
        <p:nvSpPr>
          <p:cNvPr id="4" name="5">
            <a:extLst xmlns:a="http://schemas.openxmlformats.org/drawingml/2006/main">
              <a:ext uri="{FF2B5EF4-FFF2-40B4-BE49-F238E27FC236}">
                <a16:creationId xmlns:a16="http://schemas.microsoft.com/office/drawing/2014/main" id="{22798C98-099A-41B8-9310-9B54E94617AC}"/>
              </a:ext>
            </a:extLst>
          </p:cNvPr>
          <p:cNvSpPr>
            <a:spLocks xmlns:a="http://schemas.openxmlformats.org/drawingml/2006/main" noGrp="1"/>
          </p:cNvSpPr>
          <p:nvPr/>
        </p:nvSpPr>
        <p:spPr>
          <a:xfrm xmlns:a="http://schemas.openxmlformats.org/drawingml/2006/main">
            <a:off x="685800" y="3686175"/>
            <a:ext cx="152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Poppins"/>
                <a:ea typeface="Poppins"/>
                <a:cs typeface="Poppins"/>
              </a:defRPr>
            </a:defPPr>
          </a:lstStyle>
          <a:p xmlns:a="http://schemas.openxmlformats.org/drawingml/2006/main">
            <a:pPr>
              <a:defRPr sz="6000" b="1">
                <a:solidFill>
                  <a:srgbClr val="FFFFFF"/>
                </a:solidFill>
                <a:latin typeface="Poppins"/>
                <a:ea typeface="Poppins"/>
                <a:cs typeface="Poppins"/>
              </a:defRPr>
            </a:pPr>
            <a:r>
              <a:rPr sz="6000" b="1">
                <a:solidFill>
                  <a:srgbClr val="FFFFFF"/>
                </a:solidFill>
                <a:latin typeface="Poppins"/>
                <a:ea typeface="Poppins"/>
                <a:cs typeface="Poppins"/>
              </a:rPr>
              <a:t>5</a:t>
            </a:r>
          </a:p>
        </p:txBody>
      </p:sp>
      <p:sp>
        <p:nvSpPr>
          <p:cNvPr id="5" name="maksimal soal awal">
            <a:extLst xmlns:a="http://schemas.openxmlformats.org/drawingml/2006/main">
              <a:ext uri="{FF2B5EF4-FFF2-40B4-BE49-F238E27FC236}">
                <a16:creationId xmlns:a16="http://schemas.microsoft.com/office/drawing/2014/main" id="{78D68401-417D-47D0-ACBF-9E9BF3EFEED1}"/>
              </a:ext>
            </a:extLst>
          </p:cNvPr>
          <p:cNvSpPr>
            <a:spLocks xmlns:a="http://schemas.openxmlformats.org/drawingml/2006/main" noGrp="1"/>
          </p:cNvSpPr>
          <p:nvPr/>
        </p:nvSpPr>
        <p:spPr>
          <a:xfrm xmlns:a="http://schemas.openxmlformats.org/drawingml/2006/main">
            <a:off x="685800" y="481965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maksimal soal awal</a:t>
            </a:r>
          </a:p>
        </p:txBody>
      </p:sp>
      <p:sp>
        <p:nvSpPr>
          <p:cNvPr id="6" name="3">
            <a:extLst xmlns:a="http://schemas.openxmlformats.org/drawingml/2006/main">
              <a:ext uri="{FF2B5EF4-FFF2-40B4-BE49-F238E27FC236}">
                <a16:creationId xmlns:a16="http://schemas.microsoft.com/office/drawing/2014/main" id="{18FBF519-9A28-44DA-A757-67508BBFF49A}"/>
              </a:ext>
            </a:extLst>
          </p:cNvPr>
          <p:cNvSpPr>
            <a:spLocks xmlns:a="http://schemas.openxmlformats.org/drawingml/2006/main" noGrp="1"/>
          </p:cNvSpPr>
          <p:nvPr/>
        </p:nvSpPr>
        <p:spPr>
          <a:xfrm xmlns:a="http://schemas.openxmlformats.org/drawingml/2006/main">
            <a:off x="4333875" y="3686175"/>
            <a:ext cx="152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Poppins"/>
                <a:ea typeface="Poppins"/>
                <a:cs typeface="Poppins"/>
              </a:defRPr>
            </a:defPPr>
          </a:lstStyle>
          <a:p xmlns:a="http://schemas.openxmlformats.org/drawingml/2006/main">
            <a:pPr>
              <a:defRPr sz="6000" b="1">
                <a:solidFill>
                  <a:srgbClr val="FFFFFF"/>
                </a:solidFill>
                <a:latin typeface="Poppins"/>
                <a:ea typeface="Poppins"/>
                <a:cs typeface="Poppins"/>
              </a:defRPr>
            </a:pPr>
            <a:r>
              <a:rPr sz="6000" b="1">
                <a:solidFill>
                  <a:srgbClr val="FFFFFF"/>
                </a:solidFill>
                <a:latin typeface="Poppins"/>
                <a:ea typeface="Poppins"/>
                <a:cs typeface="Poppins"/>
              </a:rPr>
              <a:t>3</a:t>
            </a:r>
          </a:p>
        </p:txBody>
      </p:sp>
      <p:sp>
        <p:nvSpPr>
          <p:cNvPr id="7" name="maksimal soal lanjutan">
            <a:extLst xmlns:a="http://schemas.openxmlformats.org/drawingml/2006/main">
              <a:ext uri="{FF2B5EF4-FFF2-40B4-BE49-F238E27FC236}">
                <a16:creationId xmlns:a16="http://schemas.microsoft.com/office/drawing/2014/main" id="{F7E2738B-57BC-47DC-89B2-E00899FAA7F4}"/>
              </a:ext>
            </a:extLst>
          </p:cNvPr>
          <p:cNvSpPr>
            <a:spLocks xmlns:a="http://schemas.openxmlformats.org/drawingml/2006/main" noGrp="1"/>
          </p:cNvSpPr>
          <p:nvPr/>
        </p:nvSpPr>
        <p:spPr>
          <a:xfrm xmlns:a="http://schemas.openxmlformats.org/drawingml/2006/main">
            <a:off x="4333875" y="481965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maksimal soal lanjutan</a:t>
            </a:r>
          </a:p>
        </p:txBody>
      </p:sp>
      <p:sp>
        <p:nvSpPr>
          <p:cNvPr id="8" name="PDF">
            <a:extLst xmlns:a="http://schemas.openxmlformats.org/drawingml/2006/main">
              <a:ext uri="{FF2B5EF4-FFF2-40B4-BE49-F238E27FC236}">
                <a16:creationId xmlns:a16="http://schemas.microsoft.com/office/drawing/2014/main" id="{C6B0DE4B-F5C4-4606-9778-872B64D45F09}"/>
              </a:ext>
            </a:extLst>
          </p:cNvPr>
          <p:cNvSpPr>
            <a:spLocks xmlns:a="http://schemas.openxmlformats.org/drawingml/2006/main" noGrp="1"/>
          </p:cNvSpPr>
          <p:nvPr/>
        </p:nvSpPr>
        <p:spPr>
          <a:xfrm xmlns:a="http://schemas.openxmlformats.org/drawingml/2006/main">
            <a:off x="8058150" y="38100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75" b="1">
                <a:solidFill>
                  <a:srgbClr val="FFFFFF"/>
                </a:solidFill>
                <a:latin typeface="Poppins"/>
                <a:ea typeface="Poppins"/>
                <a:cs typeface="Poppins"/>
              </a:defRPr>
            </a:defPPr>
          </a:lstStyle>
          <a:p xmlns:a="http://schemas.openxmlformats.org/drawingml/2006/main">
            <a:pPr>
              <a:defRPr sz="4875" b="1">
                <a:solidFill>
                  <a:srgbClr val="FFFFFF"/>
                </a:solidFill>
                <a:latin typeface="Poppins"/>
                <a:ea typeface="Poppins"/>
                <a:cs typeface="Poppins"/>
              </a:defRPr>
            </a:pPr>
            <a:r>
              <a:rPr sz="4875" b="1">
                <a:solidFill>
                  <a:srgbClr val="FFFFFF"/>
                </a:solidFill>
                <a:latin typeface="Poppins"/>
                <a:ea typeface="Poppins"/>
                <a:cs typeface="Poppins"/>
              </a:rPr>
              <a:t>PDF</a:t>
            </a:r>
          </a:p>
        </p:txBody>
      </p:sp>
      <p:sp>
        <p:nvSpPr>
          <p:cNvPr id="9" name="sumber soal dan kutipan">
            <a:extLst xmlns:a="http://schemas.openxmlformats.org/drawingml/2006/main">
              <a:ext uri="{FF2B5EF4-FFF2-40B4-BE49-F238E27FC236}">
                <a16:creationId xmlns:a16="http://schemas.microsoft.com/office/drawing/2014/main" id="{84F4AAF2-A3EE-419E-BA25-13BF49365554}"/>
              </a:ext>
            </a:extLst>
          </p:cNvPr>
          <p:cNvSpPr>
            <a:spLocks xmlns:a="http://schemas.openxmlformats.org/drawingml/2006/main" noGrp="1"/>
          </p:cNvSpPr>
          <p:nvPr/>
        </p:nvSpPr>
        <p:spPr>
          <a:xfrm xmlns:a="http://schemas.openxmlformats.org/drawingml/2006/main">
            <a:off x="8058150" y="48196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sumber soal dan kutipan</a:t>
            </a:r>
          </a:p>
        </p:txBody>
      </p:sp>
    </p:spTree>
    <p:extLst>
      <p:ext uri="{BB962C8B-B14F-4D97-AF65-F5344CB8AC3E}">
        <p14:creationId xmlns:p14="http://schemas.microsoft.com/office/powerpoint/2010/main" val="1659066539"/>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Integrasi IBM Bob dan Langflow">
            <a:extLst xmlns:a="http://schemas.openxmlformats.org/drawingml/2006/main">
              <a:ext uri="{FF2B5EF4-FFF2-40B4-BE49-F238E27FC236}">
                <a16:creationId xmlns:a16="http://schemas.microsoft.com/office/drawing/2014/main" id="{2C1B5A88-F229-464A-B56E-1C81F8681271}"/>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Integrasi IBM Bob dan Langflow</a:t>
            </a:r>
          </a:p>
        </p:txBody>
      </p:sp>
      <p:sp>
        <p:nvSpPr>
          <p:cNvPr id="2" name="04">
            <a:extLst xmlns:a="http://schemas.openxmlformats.org/drawingml/2006/main">
              <a:ext uri="{FF2B5EF4-FFF2-40B4-BE49-F238E27FC236}">
                <a16:creationId xmlns:a16="http://schemas.microsoft.com/office/drawing/2014/main" id="{E387282B-A67C-4555-96BE-F6F9B19592C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04</a:t>
            </a:r>
          </a:p>
        </p:txBody>
      </p:sp>
      <p:sp>
        <p:nvSpPr>
          <p:cNvPr id="3" name="IBM Bob">
            <a:extLst xmlns:a="http://schemas.openxmlformats.org/drawingml/2006/main">
              <a:ext uri="{FF2B5EF4-FFF2-40B4-BE49-F238E27FC236}">
                <a16:creationId xmlns:a16="http://schemas.microsoft.com/office/drawing/2014/main" id="{B0E5BD85-005A-4819-A3F2-38E1B51B34C7}"/>
              </a:ext>
            </a:extLst>
          </p:cNvPr>
          <p:cNvSpPr>
            <a:spLocks xmlns:a="http://schemas.openxmlformats.org/drawingml/2006/main" noGrp="1"/>
          </p:cNvSpPr>
          <p:nvPr/>
        </p:nvSpPr>
        <p:spPr>
          <a:xfrm xmlns:a="http://schemas.openxmlformats.org/drawingml/2006/main">
            <a:off x="685800" y="18764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FFFFFF"/>
                </a:solidFill>
                <a:latin typeface="Poppins"/>
                <a:ea typeface="Poppins"/>
                <a:cs typeface="Poppins"/>
              </a:defRPr>
            </a:defPPr>
          </a:lstStyle>
          <a:p xmlns:a="http://schemas.openxmlformats.org/drawingml/2006/main">
            <a:pPr>
              <a:defRPr sz="2550" b="1">
                <a:solidFill>
                  <a:srgbClr val="FFFFFF"/>
                </a:solidFill>
                <a:latin typeface="Poppins"/>
                <a:ea typeface="Poppins"/>
                <a:cs typeface="Poppins"/>
              </a:defRPr>
            </a:pPr>
            <a:r>
              <a:rPr sz="2550" b="1">
                <a:solidFill>
                  <a:srgbClr val="FFFFFF"/>
                </a:solidFill>
                <a:latin typeface="Poppins"/>
                <a:ea typeface="Poppins"/>
                <a:cs typeface="Poppins"/>
              </a:rPr>
              <a:t>IBM Bob</a:t>
            </a:r>
          </a:p>
        </p:txBody>
      </p:sp>
      <p:sp>
        <p:nvSpPr>
          <p:cNvPr id="4" name="Mengatur sesi kuis&#10;Mencatat jawaban&#10;Memilih t">
            <a:extLst xmlns:a="http://schemas.openxmlformats.org/drawingml/2006/main">
              <a:ext uri="{FF2B5EF4-FFF2-40B4-BE49-F238E27FC236}">
                <a16:creationId xmlns:a16="http://schemas.microsoft.com/office/drawing/2014/main" id="{76869EBD-31CD-4D91-8328-5806A7F16C8E}"/>
              </a:ext>
            </a:extLst>
          </p:cNvPr>
          <p:cNvSpPr>
            <a:spLocks xmlns:a="http://schemas.openxmlformats.org/drawingml/2006/main" noGrp="1"/>
          </p:cNvSpPr>
          <p:nvPr/>
        </p:nvSpPr>
        <p:spPr>
          <a:xfrm xmlns:a="http://schemas.openxmlformats.org/drawingml/2006/main">
            <a:off x="685800" y="2657475"/>
            <a:ext cx="4667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Poppins"/>
                <a:ea typeface="Poppins"/>
                <a:cs typeface="Poppins"/>
              </a:defRPr>
            </a:defPPr>
          </a:lstStyle>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Mengatur sesi kuis</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Mencatat jawaban</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Memilih tool berikutnya</a:t>
            </a:r>
          </a:p>
        </p:txBody>
      </p:sp>
      <p:sp>
        <p:nvSpPr>
          <p:cNvPr id="5" name="Langflow">
            <a:extLst xmlns:a="http://schemas.openxmlformats.org/drawingml/2006/main">
              <a:ext uri="{FF2B5EF4-FFF2-40B4-BE49-F238E27FC236}">
                <a16:creationId xmlns:a16="http://schemas.microsoft.com/office/drawing/2014/main" id="{96FB9033-3A8A-4ECB-9BA9-778B629D14D8}"/>
              </a:ext>
            </a:extLst>
          </p:cNvPr>
          <p:cNvSpPr>
            <a:spLocks xmlns:a="http://schemas.openxmlformats.org/drawingml/2006/main" noGrp="1"/>
          </p:cNvSpPr>
          <p:nvPr/>
        </p:nvSpPr>
        <p:spPr>
          <a:xfrm xmlns:a="http://schemas.openxmlformats.org/drawingml/2006/main">
            <a:off x="6477000" y="1876425"/>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FFFFFF"/>
                </a:solidFill>
                <a:latin typeface="Poppins"/>
                <a:ea typeface="Poppins"/>
                <a:cs typeface="Poppins"/>
              </a:defRPr>
            </a:defPPr>
          </a:lstStyle>
          <a:p xmlns:a="http://schemas.openxmlformats.org/drawingml/2006/main">
            <a:pPr>
              <a:defRPr sz="2550" b="1">
                <a:solidFill>
                  <a:srgbClr val="FFFFFF"/>
                </a:solidFill>
                <a:latin typeface="Poppins"/>
                <a:ea typeface="Poppins"/>
                <a:cs typeface="Poppins"/>
              </a:defRPr>
            </a:pPr>
            <a:r>
              <a:rPr sz="2550" b="1">
                <a:solidFill>
                  <a:srgbClr val="FFFFFF"/>
                </a:solidFill>
                <a:latin typeface="Poppins"/>
                <a:ea typeface="Poppins"/>
                <a:cs typeface="Poppins"/>
              </a:rPr>
              <a:t>Langflow</a:t>
            </a:r>
          </a:p>
        </p:txBody>
      </p:sp>
      <p:sp>
        <p:nvSpPr>
          <p:cNvPr id="6" name="Membaca materi PDF&#10;LLM menyusun soal&#10;Python m">
            <a:extLst xmlns:a="http://schemas.openxmlformats.org/drawingml/2006/main">
              <a:ext uri="{FF2B5EF4-FFF2-40B4-BE49-F238E27FC236}">
                <a16:creationId xmlns:a16="http://schemas.microsoft.com/office/drawing/2014/main" id="{3CEB81C9-C4ED-4E03-9D3C-7C4FDEE6C7AE}"/>
              </a:ext>
            </a:extLst>
          </p:cNvPr>
          <p:cNvSpPr>
            <a:spLocks xmlns:a="http://schemas.openxmlformats.org/drawingml/2006/main" noGrp="1"/>
          </p:cNvSpPr>
          <p:nvPr/>
        </p:nvSpPr>
        <p:spPr>
          <a:xfrm xmlns:a="http://schemas.openxmlformats.org/drawingml/2006/main">
            <a:off x="6477000" y="2657475"/>
            <a:ext cx="4667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Poppins"/>
                <a:ea typeface="Poppins"/>
                <a:cs typeface="Poppins"/>
              </a:defRPr>
            </a:defPPr>
          </a:lstStyle>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Membaca materi PDF</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LLM menyusun soal</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Python menghitung skor</a:t>
            </a:r>
          </a:p>
        </p:txBody>
      </p:sp>
      <p:sp>
        <p:nvSpPr>
          <p:cNvPr id="7" name="MCP Streamable HTTP">
            <a:extLst xmlns:a="http://schemas.openxmlformats.org/drawingml/2006/main">
              <a:ext uri="{FF2B5EF4-FFF2-40B4-BE49-F238E27FC236}">
                <a16:creationId xmlns:a16="http://schemas.microsoft.com/office/drawing/2014/main" id="{3D5BD386-CA3E-4092-AB0E-1D146E379D33}"/>
              </a:ext>
            </a:extLst>
          </p:cNvPr>
          <p:cNvSpPr>
            <a:spLocks xmlns:a="http://schemas.openxmlformats.org/drawingml/2006/main" noGrp="1"/>
          </p:cNvSpPr>
          <p:nvPr/>
        </p:nvSpPr>
        <p:spPr>
          <a:xfrm xmlns:a="http://schemas.openxmlformats.org/drawingml/2006/main">
            <a:off x="685800" y="48101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MCP Streamable HTTP</a:t>
            </a:r>
          </a:p>
        </p:txBody>
      </p:sp>
      <p:sp>
        <p:nvSpPr>
          <p:cNvPr id="8" name="Bob mengirim path atau JSON dan menerima hasi">
            <a:extLst xmlns:a="http://schemas.openxmlformats.org/drawingml/2006/main">
              <a:ext uri="{FF2B5EF4-FFF2-40B4-BE49-F238E27FC236}">
                <a16:creationId xmlns:a16="http://schemas.microsoft.com/office/drawing/2014/main" id="{A697A8EA-7459-45E7-93F8-0090295A97E3}"/>
              </a:ext>
            </a:extLst>
          </p:cNvPr>
          <p:cNvSpPr>
            <a:spLocks xmlns:a="http://schemas.openxmlformats.org/drawingml/2006/main" noGrp="1"/>
          </p:cNvSpPr>
          <p:nvPr/>
        </p:nvSpPr>
        <p:spPr>
          <a:xfrm xmlns:a="http://schemas.openxmlformats.org/drawingml/2006/main">
            <a:off x="685800" y="5381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Bob mengirim path atau JSON dan menerima hasil workflow.</a:t>
            </a:r>
          </a:p>
        </p:txBody>
      </p:sp>
    </p:spTree>
    <p:extLst>
      <p:ext uri="{BB962C8B-B14F-4D97-AF65-F5344CB8AC3E}">
        <p14:creationId xmlns:p14="http://schemas.microsoft.com/office/powerpoint/2010/main" val="169918331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Alur latihan">
            <a:extLst xmlns:a="http://schemas.openxmlformats.org/drawingml/2006/main">
              <a:ext uri="{FF2B5EF4-FFF2-40B4-BE49-F238E27FC236}">
                <a16:creationId xmlns:a16="http://schemas.microsoft.com/office/drawing/2014/main" id="{29EB312C-553F-416D-A608-0B741271FB7F}"/>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Alur latihan</a:t>
            </a:r>
          </a:p>
        </p:txBody>
      </p:sp>
      <p:sp>
        <p:nvSpPr>
          <p:cNvPr id="2" name="05">
            <a:extLst xmlns:a="http://schemas.openxmlformats.org/drawingml/2006/main">
              <a:ext uri="{FF2B5EF4-FFF2-40B4-BE49-F238E27FC236}">
                <a16:creationId xmlns:a16="http://schemas.microsoft.com/office/drawing/2014/main" id="{BB2916F3-BC14-474D-8505-83C0A51DFDC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05</a:t>
            </a:r>
          </a:p>
        </p:txBody>
      </p:sp>
      <p:sp>
        <p:nvSpPr>
          <p:cNvPr id="3" name="01">
            <a:extLst xmlns:a="http://schemas.openxmlformats.org/drawingml/2006/main">
              <a:ext uri="{FF2B5EF4-FFF2-40B4-BE49-F238E27FC236}">
                <a16:creationId xmlns:a16="http://schemas.microsoft.com/office/drawing/2014/main" id="{FF0089F2-099E-44D4-A784-DA8D2203F46E}"/>
              </a:ext>
            </a:extLst>
          </p:cNvPr>
          <p:cNvSpPr>
            <a:spLocks xmlns:a="http://schemas.openxmlformats.org/drawingml/2006/main" noGrp="1"/>
          </p:cNvSpPr>
          <p:nvPr/>
        </p:nvSpPr>
        <p:spPr>
          <a:xfrm xmlns:a="http://schemas.openxmlformats.org/drawingml/2006/main">
            <a:off x="685800" y="17430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01</a:t>
            </a:r>
          </a:p>
        </p:txBody>
      </p:sp>
      <p:sp>
        <p:nvSpPr>
          <p:cNvPr id="4" name="PDF dan kuis awal">
            <a:extLst xmlns:a="http://schemas.openxmlformats.org/drawingml/2006/main">
              <a:ext uri="{FF2B5EF4-FFF2-40B4-BE49-F238E27FC236}">
                <a16:creationId xmlns:a16="http://schemas.microsoft.com/office/drawing/2014/main" id="{4EA5C0CD-BD75-4BC6-B265-210F0F890F7B}"/>
              </a:ext>
            </a:extLst>
          </p:cNvPr>
          <p:cNvSpPr>
            <a:spLocks xmlns:a="http://schemas.openxmlformats.org/drawingml/2006/main" noGrp="1"/>
          </p:cNvSpPr>
          <p:nvPr/>
        </p:nvSpPr>
        <p:spPr>
          <a:xfrm xmlns:a="http://schemas.openxmlformats.org/drawingml/2006/main">
            <a:off x="1476375" y="174307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PDF dan kuis awal</a:t>
            </a:r>
          </a:p>
        </p:txBody>
      </p:sp>
      <p:sp>
        <p:nvSpPr>
          <p:cNvPr id="5" name="Bob memanggil pembuat soal, lalu menyajikan p">
            <a:extLst xmlns:a="http://schemas.openxmlformats.org/drawingml/2006/main">
              <a:ext uri="{FF2B5EF4-FFF2-40B4-BE49-F238E27FC236}">
                <a16:creationId xmlns:a16="http://schemas.microsoft.com/office/drawing/2014/main" id="{BBA82270-6F01-450B-A4B0-E54F4023903C}"/>
              </a:ext>
            </a:extLst>
          </p:cNvPr>
          <p:cNvSpPr>
            <a:spLocks xmlns:a="http://schemas.openxmlformats.org/drawingml/2006/main" noGrp="1"/>
          </p:cNvSpPr>
          <p:nvPr/>
        </p:nvSpPr>
        <p:spPr>
          <a:xfrm xmlns:a="http://schemas.openxmlformats.org/drawingml/2006/main">
            <a:off x="1476375" y="2266950"/>
            <a:ext cx="962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Bob memanggil pembuat soal, lalu menyajikan pertanyaan satu per giliran.</a:t>
            </a:r>
          </a:p>
        </p:txBody>
      </p:sp>
      <p:sp>
        <p:nvSpPr>
          <p:cNvPr id="6" name="02">
            <a:extLst xmlns:a="http://schemas.openxmlformats.org/drawingml/2006/main">
              <a:ext uri="{FF2B5EF4-FFF2-40B4-BE49-F238E27FC236}">
                <a16:creationId xmlns:a16="http://schemas.microsoft.com/office/drawing/2014/main" id="{64694C76-20F3-4AAD-A65D-FB36C92DEE8C}"/>
              </a:ext>
            </a:extLst>
          </p:cNvPr>
          <p:cNvSpPr>
            <a:spLocks xmlns:a="http://schemas.openxmlformats.org/drawingml/2006/main" noGrp="1"/>
          </p:cNvSpPr>
          <p:nvPr/>
        </p:nvSpPr>
        <p:spPr>
          <a:xfrm xmlns:a="http://schemas.openxmlformats.org/drawingml/2006/main">
            <a:off x="685800" y="32861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02</a:t>
            </a:r>
          </a:p>
        </p:txBody>
      </p:sp>
      <p:sp>
        <p:nvSpPr>
          <p:cNvPr id="7" name="Jawaban dan penilaian">
            <a:extLst xmlns:a="http://schemas.openxmlformats.org/drawingml/2006/main">
              <a:ext uri="{FF2B5EF4-FFF2-40B4-BE49-F238E27FC236}">
                <a16:creationId xmlns:a16="http://schemas.microsoft.com/office/drawing/2014/main" id="{B643BC70-CE23-4F83-9D7D-D39BE70B98E4}"/>
              </a:ext>
            </a:extLst>
          </p:cNvPr>
          <p:cNvSpPr>
            <a:spLocks xmlns:a="http://schemas.openxmlformats.org/drawingml/2006/main" noGrp="1"/>
          </p:cNvSpPr>
          <p:nvPr/>
        </p:nvSpPr>
        <p:spPr>
          <a:xfrm xmlns:a="http://schemas.openxmlformats.org/drawingml/2006/main">
            <a:off x="1476375" y="328612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Jawaban dan penilaian</a:t>
            </a:r>
          </a:p>
        </p:txBody>
      </p:sp>
      <p:sp>
        <p:nvSpPr>
          <p:cNvPr id="8" name="Pembahasan muncul setelah jawaban. Python men">
            <a:extLst xmlns:a="http://schemas.openxmlformats.org/drawingml/2006/main">
              <a:ext uri="{FF2B5EF4-FFF2-40B4-BE49-F238E27FC236}">
                <a16:creationId xmlns:a16="http://schemas.microsoft.com/office/drawing/2014/main" id="{519FA020-DBAB-491F-9BB9-346D5B03464D}"/>
              </a:ext>
            </a:extLst>
          </p:cNvPr>
          <p:cNvSpPr>
            <a:spLocks xmlns:a="http://schemas.openxmlformats.org/drawingml/2006/main" noGrp="1"/>
          </p:cNvSpPr>
          <p:nvPr/>
        </p:nvSpPr>
        <p:spPr>
          <a:xfrm xmlns:a="http://schemas.openxmlformats.org/drawingml/2006/main">
            <a:off x="1476375" y="3810000"/>
            <a:ext cx="962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Pembahasan muncul setelah jawaban. Python menghitung skor dan topik salah.</a:t>
            </a:r>
          </a:p>
        </p:txBody>
      </p:sp>
      <p:sp>
        <p:nvSpPr>
          <p:cNvPr id="9" name="03">
            <a:extLst xmlns:a="http://schemas.openxmlformats.org/drawingml/2006/main">
              <a:ext uri="{FF2B5EF4-FFF2-40B4-BE49-F238E27FC236}">
                <a16:creationId xmlns:a16="http://schemas.microsoft.com/office/drawing/2014/main" id="{8E42A5FF-4010-43A2-B792-549E74217882}"/>
              </a:ext>
            </a:extLst>
          </p:cNvPr>
          <p:cNvSpPr>
            <a:spLocks xmlns:a="http://schemas.openxmlformats.org/drawingml/2006/main" noGrp="1"/>
          </p:cNvSpPr>
          <p:nvPr/>
        </p:nvSpPr>
        <p:spPr>
          <a:xfrm xmlns:a="http://schemas.openxmlformats.org/drawingml/2006/main">
            <a:off x="685800" y="48291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03</a:t>
            </a:r>
          </a:p>
        </p:txBody>
      </p:sp>
      <p:sp>
        <p:nvSpPr>
          <p:cNvPr id="10" name="Latihan penguatan">
            <a:extLst xmlns:a="http://schemas.openxmlformats.org/drawingml/2006/main">
              <a:ext uri="{FF2B5EF4-FFF2-40B4-BE49-F238E27FC236}">
                <a16:creationId xmlns:a16="http://schemas.microsoft.com/office/drawing/2014/main" id="{05571B7C-2FB4-410D-AF9E-006E90ABEE9F}"/>
              </a:ext>
            </a:extLst>
          </p:cNvPr>
          <p:cNvSpPr>
            <a:spLocks xmlns:a="http://schemas.openxmlformats.org/drawingml/2006/main" noGrp="1"/>
          </p:cNvSpPr>
          <p:nvPr/>
        </p:nvSpPr>
        <p:spPr>
          <a:xfrm xmlns:a="http://schemas.openxmlformats.org/drawingml/2006/main">
            <a:off x="1476375" y="482917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FFFFF"/>
                </a:solidFill>
                <a:latin typeface="Poppins"/>
                <a:ea typeface="Poppins"/>
                <a:cs typeface="Poppins"/>
              </a:defRPr>
            </a:defPPr>
          </a:lstStyle>
          <a:p xmlns:a="http://schemas.openxmlformats.org/drawingml/2006/main">
            <a:pPr>
              <a:defRPr sz="2250" b="1">
                <a:solidFill>
                  <a:srgbClr val="FFFFFF"/>
                </a:solidFill>
                <a:latin typeface="Poppins"/>
                <a:ea typeface="Poppins"/>
                <a:cs typeface="Poppins"/>
              </a:defRPr>
            </a:pPr>
            <a:r>
              <a:rPr sz="2250" b="1">
                <a:solidFill>
                  <a:srgbClr val="FFFFFF"/>
                </a:solidFill>
                <a:latin typeface="Poppins"/>
                <a:ea typeface="Poppins"/>
                <a:cs typeface="Poppins"/>
              </a:rPr>
              <a:t>Latihan penguatan</a:t>
            </a:r>
          </a:p>
        </p:txBody>
      </p:sp>
      <p:sp>
        <p:nvSpPr>
          <p:cNvPr id="11" name="Soal baru fokus pada topik salah. Skor latiha">
            <a:extLst xmlns:a="http://schemas.openxmlformats.org/drawingml/2006/main">
              <a:ext uri="{FF2B5EF4-FFF2-40B4-BE49-F238E27FC236}">
                <a16:creationId xmlns:a16="http://schemas.microsoft.com/office/drawing/2014/main" id="{15B73A82-BC2E-45B4-8DD4-C55FD5DDCF93}"/>
              </a:ext>
            </a:extLst>
          </p:cNvPr>
          <p:cNvSpPr>
            <a:spLocks xmlns:a="http://schemas.openxmlformats.org/drawingml/2006/main" noGrp="1"/>
          </p:cNvSpPr>
          <p:nvPr/>
        </p:nvSpPr>
        <p:spPr>
          <a:xfrm xmlns:a="http://schemas.openxmlformats.org/drawingml/2006/main">
            <a:off x="1476375" y="5353050"/>
            <a:ext cx="962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Soal baru fokus pada topik salah. Skor latihan lanjutan dilaporkan terpisah.</a:t>
            </a:r>
          </a:p>
        </p:txBody>
      </p:sp>
    </p:spTree>
    <p:extLst>
      <p:ext uri="{BB962C8B-B14F-4D97-AF65-F5344CB8AC3E}">
        <p14:creationId xmlns:p14="http://schemas.microsoft.com/office/powerpoint/2010/main" val="1080597391"/>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Demo: pembahasan berbasis materi">
            <a:extLst xmlns:a="http://schemas.openxmlformats.org/drawingml/2006/main">
              <a:ext uri="{FF2B5EF4-FFF2-40B4-BE49-F238E27FC236}">
                <a16:creationId xmlns:a16="http://schemas.microsoft.com/office/drawing/2014/main" id="{6692C385-0EC3-4507-9C21-5BC3D31FB4C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Demo: pembahasan berbasis materi</a:t>
            </a:r>
          </a:p>
        </p:txBody>
      </p:sp>
      <p:sp>
        <p:nvSpPr>
          <p:cNvPr id="2" name="06">
            <a:extLst xmlns:a="http://schemas.openxmlformats.org/drawingml/2006/main">
              <a:ext uri="{FF2B5EF4-FFF2-40B4-BE49-F238E27FC236}">
                <a16:creationId xmlns:a16="http://schemas.microsoft.com/office/drawing/2014/main" id="{7E8DB343-9E0D-4205-8940-5D18A5B5C32E}"/>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06</a:t>
            </a:r>
          </a:p>
        </p:txBody>
      </p:sp>
      <p:sp>
        <p:nvSpPr>
          <p:cNvPr id="3" name="Satu soal per giliran">
            <a:extLst xmlns:a="http://schemas.openxmlformats.org/drawingml/2006/main">
              <a:ext uri="{FF2B5EF4-FFF2-40B4-BE49-F238E27FC236}">
                <a16:creationId xmlns:a16="http://schemas.microsoft.com/office/drawing/2014/main" id="{75041B0A-97B1-4E04-B577-E1E6E34E5158}"/>
              </a:ext>
            </a:extLst>
          </p:cNvPr>
          <p:cNvSpPr>
            <a:spLocks xmlns:a="http://schemas.openxmlformats.org/drawingml/2006/main" noGrp="1"/>
          </p:cNvSpPr>
          <p:nvPr/>
        </p:nvSpPr>
        <p:spPr>
          <a:xfrm xmlns:a="http://schemas.openxmlformats.org/drawingml/2006/main">
            <a:off x="685800" y="1876425"/>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FFFFFF"/>
                </a:solidFill>
                <a:latin typeface="Poppins"/>
                <a:ea typeface="Poppins"/>
                <a:cs typeface="Poppins"/>
              </a:defRPr>
            </a:defPPr>
          </a:lstStyle>
          <a:p xmlns:a="http://schemas.openxmlformats.org/drawingml/2006/main">
            <a:pPr>
              <a:defRPr sz="2475" b="1">
                <a:solidFill>
                  <a:srgbClr val="FFFFFF"/>
                </a:solidFill>
                <a:latin typeface="Poppins"/>
                <a:ea typeface="Poppins"/>
                <a:cs typeface="Poppins"/>
              </a:defRPr>
            </a:pPr>
            <a:r>
              <a:rPr sz="2475" b="1">
                <a:solidFill>
                  <a:srgbClr val="FFFFFF"/>
                </a:solidFill>
                <a:latin typeface="Poppins"/>
                <a:ea typeface="Poppins"/>
                <a:cs typeface="Poppins"/>
              </a:rPr>
              <a:t>Satu soal per giliran</a:t>
            </a:r>
          </a:p>
        </p:txBody>
      </p:sp>
      <p:sp>
        <p:nvSpPr>
          <p:cNvPr id="4" name="Pengguna menjawab A–D.&#10;&#10;Bob menampilkan pemba">
            <a:extLst xmlns:a="http://schemas.openxmlformats.org/drawingml/2006/main">
              <a:ext uri="{FF2B5EF4-FFF2-40B4-BE49-F238E27FC236}">
                <a16:creationId xmlns:a16="http://schemas.microsoft.com/office/drawing/2014/main" id="{49DC7752-7343-42C7-BD99-1841CBDB030A}"/>
              </a:ext>
            </a:extLst>
          </p:cNvPr>
          <p:cNvSpPr>
            <a:spLocks xmlns:a="http://schemas.openxmlformats.org/drawingml/2006/main" noGrp="1"/>
          </p:cNvSpPr>
          <p:nvPr/>
        </p:nvSpPr>
        <p:spPr>
          <a:xfrm xmlns:a="http://schemas.openxmlformats.org/drawingml/2006/main">
            <a:off x="685800" y="3124200"/>
            <a:ext cx="3429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FFFFFF"/>
                </a:solidFill>
                <a:latin typeface="Poppins"/>
                <a:ea typeface="Poppins"/>
                <a:cs typeface="Poppins"/>
              </a:defRPr>
            </a:defPPr>
          </a:lstStyle>
          <a:p xmlns:a="http://schemas.openxmlformats.org/drawingml/2006/main">
            <a:pPr>
              <a:defRPr sz="1950" b="0">
                <a:solidFill>
                  <a:srgbClr val="FFFFFF"/>
                </a:solidFill>
                <a:latin typeface="Poppins"/>
                <a:ea typeface="Poppins"/>
                <a:cs typeface="Poppins"/>
              </a:defRPr>
            </a:pPr>
            <a:r>
              <a:rPr sz="1950" b="0">
                <a:solidFill>
                  <a:srgbClr val="FFFFFF"/>
                </a:solidFill>
                <a:latin typeface="Poppins"/>
                <a:ea typeface="Poppins"/>
                <a:cs typeface="Poppins"/>
              </a:rPr>
              <a:t>Pengguna menjawab A–D.</a:t>
            </a:r>
          </a:p>
          <a:p xmlns:a="http://schemas.openxmlformats.org/drawingml/2006/main">
            <a:r>
              <a:t/>
            </a:r>
          </a:p>
          <a:p xmlns:a="http://schemas.openxmlformats.org/drawingml/2006/main">
            <a:pPr>
              <a:defRPr sz="1950" b="0">
                <a:solidFill>
                  <a:srgbClr val="FFFFFF"/>
                </a:solidFill>
                <a:latin typeface="Poppins"/>
                <a:ea typeface="Poppins"/>
                <a:cs typeface="Poppins"/>
              </a:defRPr>
            </a:pPr>
            <a:r>
              <a:rPr sz="1950" b="0">
                <a:solidFill>
                  <a:srgbClr val="FFFFFF"/>
                </a:solidFill>
                <a:latin typeface="Poppins"/>
                <a:ea typeface="Poppins"/>
                <a:cs typeface="Poppins"/>
              </a:rPr>
              <a:t>Bob menampilkan pembahasan dan kutipan sumber setelah jawaban.</a:t>
            </a:r>
          </a:p>
        </p:txBody>
      </p:sp>
      <p:pic>
        <p:nvPicPr>
          <p:cNvPr id="5" name="">
            <a:extLst xmlns:a="http://schemas.openxmlformats.org/drawingml/2006/main">
              <a:ext uri="{FF2B5EF4-FFF2-40B4-BE49-F238E27FC236}">
                <a16:creationId xmlns:a16="http://schemas.microsoft.com/office/drawing/2014/main" id="{684C9F00-A993-4644-9987-15A94ABB49AC}"/>
              </a:ext>
            </a:extLst>
          </p:cNvPr>
          <p:cNvPicPr>
            <a:picLocks xmlns:a="http://schemas.openxmlformats.org/drawingml/2006/main" noChangeAspect="1"/>
          </p:cNvPicPr>
          <p:nvPr/>
        </p:nvPicPr>
        <p:blipFill>
          <a:blip xmlns:r="http://schemas.openxmlformats.org/officeDocument/2006/relationships" xmlns:a="http://schemas.openxmlformats.org/drawingml/2006/main" r:embed="R093b9975b5894733"/>
          <a:stretch xmlns:a="http://schemas.openxmlformats.org/drawingml/2006/main"/>
        </p:blipFill>
        <p:spPr>
          <a:xfrm xmlns:a="http://schemas.openxmlformats.org/drawingml/2006/main">
            <a:off x="4719197" y="1743075"/>
            <a:ext cx="6782681" cy="4495800"/>
          </a:xfrm>
          <a:prstGeom xmlns:a="http://schemas.openxmlformats.org/drawingml/2006/main" prst="rect">
            <a:avLst/>
          </a:prstGeom>
        </p:spPr>
      </p:pic>
    </p:spTree>
    <p:extLst>
      <p:ext uri="{BB962C8B-B14F-4D97-AF65-F5344CB8AC3E}">
        <p14:creationId xmlns:p14="http://schemas.microsoft.com/office/powerpoint/2010/main" val="1478693625"/>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Hasil kuis dan topik penguatan">
            <a:extLst xmlns:a="http://schemas.openxmlformats.org/drawingml/2006/main">
              <a:ext uri="{FF2B5EF4-FFF2-40B4-BE49-F238E27FC236}">
                <a16:creationId xmlns:a16="http://schemas.microsoft.com/office/drawing/2014/main" id="{AE9DD206-F759-46BA-8185-4F04566FA381}"/>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Hasil kuis dan topik penguatan</a:t>
            </a:r>
          </a:p>
        </p:txBody>
      </p:sp>
      <p:sp>
        <p:nvSpPr>
          <p:cNvPr id="2" name="07">
            <a:extLst xmlns:a="http://schemas.openxmlformats.org/drawingml/2006/main">
              <a:ext uri="{FF2B5EF4-FFF2-40B4-BE49-F238E27FC236}">
                <a16:creationId xmlns:a16="http://schemas.microsoft.com/office/drawing/2014/main" id="{7B82DFFB-9DF6-4951-9862-0357E179D8A1}"/>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07</a:t>
            </a:r>
          </a:p>
        </p:txBody>
      </p:sp>
      <p:sp>
        <p:nvSpPr>
          <p:cNvPr id="3" name="Perhitungan melalui Python">
            <a:extLst xmlns:a="http://schemas.openxmlformats.org/drawingml/2006/main">
              <a:ext uri="{FF2B5EF4-FFF2-40B4-BE49-F238E27FC236}">
                <a16:creationId xmlns:a16="http://schemas.microsoft.com/office/drawing/2014/main" id="{6E2D7A28-CE4B-4CA0-92E9-6B7B1FA75C66}"/>
              </a:ext>
            </a:extLst>
          </p:cNvPr>
          <p:cNvSpPr>
            <a:spLocks xmlns:a="http://schemas.openxmlformats.org/drawingml/2006/main" noGrp="1"/>
          </p:cNvSpPr>
          <p:nvPr/>
        </p:nvSpPr>
        <p:spPr>
          <a:xfrm xmlns:a="http://schemas.openxmlformats.org/drawingml/2006/main">
            <a:off x="685800" y="1876425"/>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FFFFFF"/>
                </a:solidFill>
                <a:latin typeface="Poppins"/>
                <a:ea typeface="Poppins"/>
                <a:cs typeface="Poppins"/>
              </a:defRPr>
            </a:defPPr>
          </a:lstStyle>
          <a:p xmlns:a="http://schemas.openxmlformats.org/drawingml/2006/main">
            <a:pPr>
              <a:defRPr sz="2475" b="1">
                <a:solidFill>
                  <a:srgbClr val="FFFFFF"/>
                </a:solidFill>
                <a:latin typeface="Poppins"/>
                <a:ea typeface="Poppins"/>
                <a:cs typeface="Poppins"/>
              </a:defRPr>
            </a:pPr>
            <a:r>
              <a:rPr sz="2475" b="1">
                <a:solidFill>
                  <a:srgbClr val="FFFFFF"/>
                </a:solidFill>
                <a:latin typeface="Poppins"/>
                <a:ea typeface="Poppins"/>
                <a:cs typeface="Poppins"/>
              </a:rPr>
              <a:t>Perhitungan melalui Python</a:t>
            </a:r>
          </a:p>
        </p:txBody>
      </p:sp>
      <p:sp>
        <p:nvSpPr>
          <p:cNvPr id="4" name="Jumlah benar, salah, dan belum dijawab.&#10;&#10;Topi">
            <a:extLst xmlns:a="http://schemas.openxmlformats.org/drawingml/2006/main">
              <a:ext uri="{FF2B5EF4-FFF2-40B4-BE49-F238E27FC236}">
                <a16:creationId xmlns:a16="http://schemas.microsoft.com/office/drawing/2014/main" id="{CB9E30EA-CC6D-4636-8A42-3536AF85ED24}"/>
              </a:ext>
            </a:extLst>
          </p:cNvPr>
          <p:cNvSpPr>
            <a:spLocks xmlns:a="http://schemas.openxmlformats.org/drawingml/2006/main" noGrp="1"/>
          </p:cNvSpPr>
          <p:nvPr/>
        </p:nvSpPr>
        <p:spPr>
          <a:xfrm xmlns:a="http://schemas.openxmlformats.org/drawingml/2006/main">
            <a:off x="685800" y="334327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FFFFFF"/>
                </a:solidFill>
                <a:latin typeface="Poppins"/>
                <a:ea typeface="Poppins"/>
                <a:cs typeface="Poppins"/>
              </a:defRPr>
            </a:defPPr>
          </a:lstStyle>
          <a:p xmlns:a="http://schemas.openxmlformats.org/drawingml/2006/main">
            <a:pPr>
              <a:defRPr sz="1950" b="0">
                <a:solidFill>
                  <a:srgbClr val="FFFFFF"/>
                </a:solidFill>
                <a:latin typeface="Poppins"/>
                <a:ea typeface="Poppins"/>
                <a:cs typeface="Poppins"/>
              </a:defRPr>
            </a:pPr>
            <a:r>
              <a:rPr sz="1950" b="0">
                <a:solidFill>
                  <a:srgbClr val="FFFFFF"/>
                </a:solidFill>
                <a:latin typeface="Poppins"/>
                <a:ea typeface="Poppins"/>
                <a:cs typeface="Poppins"/>
              </a:rPr>
              <a:t>Jumlah benar, salah, dan belum dijawab.</a:t>
            </a:r>
          </a:p>
          <a:p xmlns:a="http://schemas.openxmlformats.org/drawingml/2006/main">
            <a:r>
              <a:t/>
            </a:r>
          </a:p>
          <a:p xmlns:a="http://schemas.openxmlformats.org/drawingml/2006/main">
            <a:pPr>
              <a:defRPr sz="1950" b="0">
                <a:solidFill>
                  <a:srgbClr val="FFFFFF"/>
                </a:solidFill>
                <a:latin typeface="Poppins"/>
                <a:ea typeface="Poppins"/>
                <a:cs typeface="Poppins"/>
              </a:defRPr>
            </a:pPr>
            <a:r>
              <a:rPr sz="1950" b="0">
                <a:solidFill>
                  <a:srgbClr val="FFFFFF"/>
                </a:solidFill>
                <a:latin typeface="Poppins"/>
                <a:ea typeface="Poppins"/>
                <a:cs typeface="Poppins"/>
              </a:rPr>
              <a:t>Topik jawaban salah menjadi fokus latihan berikutnya.</a:t>
            </a:r>
          </a:p>
        </p:txBody>
      </p:sp>
      <p:pic>
        <p:nvPicPr>
          <p:cNvPr id="5" name="">
            <a:extLst xmlns:a="http://schemas.openxmlformats.org/drawingml/2006/main">
              <a:ext uri="{FF2B5EF4-FFF2-40B4-BE49-F238E27FC236}">
                <a16:creationId xmlns:a16="http://schemas.microsoft.com/office/drawing/2014/main" id="{D4665241-7A4E-4476-BED3-DCBB055C9188}"/>
              </a:ext>
            </a:extLst>
          </p:cNvPr>
          <p:cNvPicPr>
            <a:picLocks xmlns:a="http://schemas.openxmlformats.org/drawingml/2006/main" noChangeAspect="1"/>
          </p:cNvPicPr>
          <p:nvPr/>
        </p:nvPicPr>
        <p:blipFill>
          <a:blip xmlns:r="http://schemas.openxmlformats.org/officeDocument/2006/relationships" xmlns:a="http://schemas.openxmlformats.org/drawingml/2006/main" r:embed="R03698ef5d5a340c2"/>
          <a:stretch xmlns:a="http://schemas.openxmlformats.org/drawingml/2006/main"/>
        </p:blipFill>
        <p:spPr>
          <a:xfrm xmlns:a="http://schemas.openxmlformats.org/drawingml/2006/main">
            <a:off x="5204700" y="1724025"/>
            <a:ext cx="5811674" cy="4629150"/>
          </a:xfrm>
          <a:prstGeom xmlns:a="http://schemas.openxmlformats.org/drawingml/2006/main" prst="rect">
            <a:avLst/>
          </a:prstGeom>
        </p:spPr>
      </p:pic>
    </p:spTree>
    <p:extLst>
      <p:ext uri="{BB962C8B-B14F-4D97-AF65-F5344CB8AC3E}">
        <p14:creationId xmlns:p14="http://schemas.microsoft.com/office/powerpoint/2010/main" val="1355394448"/>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Validasi MVP">
            <a:extLst xmlns:a="http://schemas.openxmlformats.org/drawingml/2006/main">
              <a:ext uri="{FF2B5EF4-FFF2-40B4-BE49-F238E27FC236}">
                <a16:creationId xmlns:a16="http://schemas.microsoft.com/office/drawing/2014/main" id="{E343B726-A609-4FDB-954E-11FE1FBDD548}"/>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Validasi MVP</a:t>
            </a:r>
          </a:p>
        </p:txBody>
      </p:sp>
      <p:sp>
        <p:nvSpPr>
          <p:cNvPr id="2" name="08">
            <a:extLst xmlns:a="http://schemas.openxmlformats.org/drawingml/2006/main">
              <a:ext uri="{FF2B5EF4-FFF2-40B4-BE49-F238E27FC236}">
                <a16:creationId xmlns:a16="http://schemas.microsoft.com/office/drawing/2014/main" id="{2707AC64-F7E5-48E5-A85D-155AE5B31E38}"/>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08</a:t>
            </a:r>
          </a:p>
        </p:txBody>
      </p:sp>
      <p:sp>
        <p:nvSpPr>
          <p:cNvPr id="3" name="6 skenario fungsi lulus">
            <a:extLst xmlns:a="http://schemas.openxmlformats.org/drawingml/2006/main">
              <a:ext uri="{FF2B5EF4-FFF2-40B4-BE49-F238E27FC236}">
                <a16:creationId xmlns:a16="http://schemas.microsoft.com/office/drawing/2014/main" id="{1EFE2E56-526D-4AA0-806D-71B2E1A322BB}"/>
              </a:ext>
            </a:extLst>
          </p:cNvPr>
          <p:cNvSpPr>
            <a:spLocks xmlns:a="http://schemas.openxmlformats.org/drawingml/2006/main" noGrp="1"/>
          </p:cNvSpPr>
          <p:nvPr/>
        </p:nvSpPr>
        <p:spPr>
          <a:xfrm xmlns:a="http://schemas.openxmlformats.org/drawingml/2006/main">
            <a:off x="685800" y="18097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Poppins"/>
                <a:ea typeface="Poppins"/>
                <a:cs typeface="Poppins"/>
              </a:defRPr>
            </a:defPPr>
          </a:lstStyle>
          <a:p xmlns:a="http://schemas.openxmlformats.org/drawingml/2006/main">
            <a:pPr>
              <a:defRPr sz="3225" b="1">
                <a:solidFill>
                  <a:srgbClr val="FFFFFF"/>
                </a:solidFill>
                <a:latin typeface="Poppins"/>
                <a:ea typeface="Poppins"/>
                <a:cs typeface="Poppins"/>
              </a:defRPr>
            </a:pPr>
            <a:r>
              <a:rPr sz="3225" b="1">
                <a:solidFill>
                  <a:srgbClr val="FFFFFF"/>
                </a:solidFill>
                <a:latin typeface="Poppins"/>
                <a:ea typeface="Poppins"/>
                <a:cs typeface="Poppins"/>
              </a:rPr>
              <a:t>6 skenario fungsi lulus</a:t>
            </a:r>
          </a:p>
        </p:txBody>
      </p:sp>
      <p:sp>
        <p:nvSpPr>
          <p:cNvPr id="4" name="Seluruh jawaban benar dan seluruh jawaban sal">
            <a:extLst xmlns:a="http://schemas.openxmlformats.org/drawingml/2006/main">
              <a:ext uri="{FF2B5EF4-FFF2-40B4-BE49-F238E27FC236}">
                <a16:creationId xmlns:a16="http://schemas.microsoft.com/office/drawing/2014/main" id="{CE8754E5-FEF4-4DB1-ABEF-DA2AB4F0810F}"/>
              </a:ext>
            </a:extLst>
          </p:cNvPr>
          <p:cNvSpPr>
            <a:spLocks xmlns:a="http://schemas.openxmlformats.org/drawingml/2006/main" noGrp="1"/>
          </p:cNvSpPr>
          <p:nvPr/>
        </p:nvSpPr>
        <p:spPr>
          <a:xfrm xmlns:a="http://schemas.openxmlformats.org/drawingml/2006/main">
            <a:off x="685800" y="2895600"/>
            <a:ext cx="10382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Poppins"/>
                <a:ea typeface="Poppins"/>
                <a:cs typeface="Poppins"/>
              </a:defRPr>
            </a:defPPr>
          </a:lstStyle>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Seluruh jawaban benar dan seluruh jawaban salah</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Satu soal dilewati</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Path PDF tidak ditemukan</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Topik latihan di luar materi</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PDF yang sama dipakai berulang</a:t>
            </a:r>
          </a:p>
        </p:txBody>
      </p:sp>
      <p:sp>
        <p:nvSpPr>
          <p:cNvPr id="5" name="Pengujian oleh pengembang. Efektivitas belaja">
            <a:extLst xmlns:a="http://schemas.openxmlformats.org/drawingml/2006/main">
              <a:ext uri="{FF2B5EF4-FFF2-40B4-BE49-F238E27FC236}">
                <a16:creationId xmlns:a16="http://schemas.microsoft.com/office/drawing/2014/main" id="{23647A48-6BC5-4D92-8834-8D3922F53466}"/>
              </a:ext>
            </a:extLst>
          </p:cNvPr>
          <p:cNvSpPr>
            <a:spLocks xmlns:a="http://schemas.openxmlformats.org/drawingml/2006/main" noGrp="1"/>
          </p:cNvSpPr>
          <p:nvPr/>
        </p:nvSpPr>
        <p:spPr>
          <a:xfrm xmlns:a="http://schemas.openxmlformats.org/drawingml/2006/main">
            <a:off x="685800" y="56292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FFFFFF"/>
                </a:solidFill>
                <a:latin typeface="Poppins"/>
                <a:ea typeface="Poppins"/>
                <a:cs typeface="Poppins"/>
              </a:defRPr>
            </a:defPPr>
          </a:lstStyle>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Pengujian oleh pengembang. Efektivitas belajar belum diukur.</a:t>
            </a:r>
          </a:p>
        </p:txBody>
      </p:sp>
    </p:spTree>
    <p:extLst>
      <p:ext uri="{BB962C8B-B14F-4D97-AF65-F5344CB8AC3E}">
        <p14:creationId xmlns:p14="http://schemas.microsoft.com/office/powerpoint/2010/main" val="1626359247"/>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Dampak dan pengembangan">
            <a:extLst xmlns:a="http://schemas.openxmlformats.org/drawingml/2006/main">
              <a:ext uri="{FF2B5EF4-FFF2-40B4-BE49-F238E27FC236}">
                <a16:creationId xmlns:a16="http://schemas.microsoft.com/office/drawing/2014/main" id="{692543F5-2A09-472D-B2D3-D177ACB980B2}"/>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Dampak dan pengembangan</a:t>
            </a:r>
          </a:p>
        </p:txBody>
      </p:sp>
      <p:sp>
        <p:nvSpPr>
          <p:cNvPr id="2" name="09">
            <a:extLst xmlns:a="http://schemas.openxmlformats.org/drawingml/2006/main">
              <a:ext uri="{FF2B5EF4-FFF2-40B4-BE49-F238E27FC236}">
                <a16:creationId xmlns:a16="http://schemas.microsoft.com/office/drawing/2014/main" id="{F8E4833E-8E78-4396-AD80-1C7BFF11DF64}"/>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09</a:t>
            </a:r>
          </a:p>
        </p:txBody>
      </p:sp>
      <p:sp>
        <p:nvSpPr>
          <p:cNvPr id="3" name="Manfaat yang dituju">
            <a:extLst xmlns:a="http://schemas.openxmlformats.org/drawingml/2006/main">
              <a:ext uri="{FF2B5EF4-FFF2-40B4-BE49-F238E27FC236}">
                <a16:creationId xmlns:a16="http://schemas.microsoft.com/office/drawing/2014/main" id="{4CBA228E-4299-4A2E-9170-CFE609E672AC}"/>
              </a:ext>
            </a:extLst>
          </p:cNvPr>
          <p:cNvSpPr>
            <a:spLocks xmlns:a="http://schemas.openxmlformats.org/drawingml/2006/main" noGrp="1"/>
          </p:cNvSpPr>
          <p:nvPr/>
        </p:nvSpPr>
        <p:spPr>
          <a:xfrm xmlns:a="http://schemas.openxmlformats.org/drawingml/2006/main">
            <a:off x="685800" y="18288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Manfaat yang dituju</a:t>
            </a:r>
          </a:p>
        </p:txBody>
      </p:sp>
      <p:sp>
        <p:nvSpPr>
          <p:cNvPr id="4" name="Mengurangi penyusunan latihan manual.&#10;&#10;Memban">
            <a:extLst xmlns:a="http://schemas.openxmlformats.org/drawingml/2006/main">
              <a:ext uri="{FF2B5EF4-FFF2-40B4-BE49-F238E27FC236}">
                <a16:creationId xmlns:a16="http://schemas.microsoft.com/office/drawing/2014/main" id="{49BF1497-B517-48AE-9278-0F4AF9517912}"/>
              </a:ext>
            </a:extLst>
          </p:cNvPr>
          <p:cNvSpPr>
            <a:spLocks xmlns:a="http://schemas.openxmlformats.org/drawingml/2006/main" noGrp="1"/>
          </p:cNvSpPr>
          <p:nvPr/>
        </p:nvSpPr>
        <p:spPr>
          <a:xfrm xmlns:a="http://schemas.openxmlformats.org/drawingml/2006/main">
            <a:off x="685800" y="2705100"/>
            <a:ext cx="4619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Poppins"/>
                <a:ea typeface="Poppins"/>
                <a:cs typeface="Poppins"/>
              </a:defRPr>
            </a:defPPr>
          </a:lstStyle>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Mengurangi penyusunan latihan manual.</a:t>
            </a:r>
          </a:p>
          <a:p xmlns:a="http://schemas.openxmlformats.org/drawingml/2006/main">
            <a:r>
              <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Membantu menentukan prioritas belajar berdasarkan kesalahan.</a:t>
            </a:r>
          </a:p>
        </p:txBody>
      </p:sp>
      <p:sp>
        <p:nvSpPr>
          <p:cNvPr id="5" name="Pengembangan berikutnya">
            <a:extLst xmlns:a="http://schemas.openxmlformats.org/drawingml/2006/main">
              <a:ext uri="{FF2B5EF4-FFF2-40B4-BE49-F238E27FC236}">
                <a16:creationId xmlns:a16="http://schemas.microsoft.com/office/drawing/2014/main" id="{9E8BFAAA-D5DD-4286-9425-6A6E8E506CD0}"/>
              </a:ext>
            </a:extLst>
          </p:cNvPr>
          <p:cNvSpPr>
            <a:spLocks xmlns:a="http://schemas.openxmlformats.org/drawingml/2006/main" noGrp="1"/>
          </p:cNvSpPr>
          <p:nvPr/>
        </p:nvSpPr>
        <p:spPr>
          <a:xfrm xmlns:a="http://schemas.openxmlformats.org/drawingml/2006/main">
            <a:off x="6524625" y="18288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FFFFFF"/>
                </a:solidFill>
                <a:latin typeface="Poppins"/>
                <a:ea typeface="Poppins"/>
                <a:cs typeface="Poppins"/>
              </a:defRPr>
            </a:defPPr>
          </a:lstStyle>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Pengembangan berikutnya</a:t>
            </a:r>
          </a:p>
        </p:txBody>
      </p:sp>
      <p:sp>
        <p:nvSpPr>
          <p:cNvPr id="6" name="Upload PDF melalui web&#10;Riwayat progres belaja">
            <a:extLst xmlns:a="http://schemas.openxmlformats.org/drawingml/2006/main">
              <a:ext uri="{FF2B5EF4-FFF2-40B4-BE49-F238E27FC236}">
                <a16:creationId xmlns:a16="http://schemas.microsoft.com/office/drawing/2014/main" id="{183313EE-C669-40D8-811B-BB1E521CF8D5}"/>
              </a:ext>
            </a:extLst>
          </p:cNvPr>
          <p:cNvSpPr>
            <a:spLocks xmlns:a="http://schemas.openxmlformats.org/drawingml/2006/main" noGrp="1"/>
          </p:cNvSpPr>
          <p:nvPr/>
        </p:nvSpPr>
        <p:spPr>
          <a:xfrm xmlns:a="http://schemas.openxmlformats.org/drawingml/2006/main">
            <a:off x="6524625" y="3028950"/>
            <a:ext cx="4667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Poppins"/>
                <a:ea typeface="Poppins"/>
                <a:cs typeface="Poppins"/>
              </a:defRPr>
            </a:defPPr>
          </a:lstStyle>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Upload PDF melalui web</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Riwayat progres belajar</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Validasi soal dan kutipan</a:t>
            </a:r>
          </a:p>
          <a:p xmlns:a="http://schemas.openxmlformats.org/drawingml/2006/main">
            <a:pPr>
              <a:defRPr sz="2025" b="0">
                <a:solidFill>
                  <a:srgbClr val="FFFFFF"/>
                </a:solidFill>
                <a:latin typeface="Poppins"/>
                <a:ea typeface="Poppins"/>
                <a:cs typeface="Poppins"/>
              </a:defRPr>
            </a:pPr>
            <a:r>
              <a:rPr sz="2025" b="0">
                <a:solidFill>
                  <a:srgbClr val="FFFFFF"/>
                </a:solidFill>
                <a:latin typeface="Poppins"/>
                <a:ea typeface="Poppins"/>
                <a:cs typeface="Poppins"/>
              </a:rPr>
              <a:t>Uji coba bersama mahasiswa</a:t>
            </a:r>
          </a:p>
        </p:txBody>
      </p:sp>
      <p:sp>
        <p:nvSpPr>
          <p:cNvPr id="7" name="Indikator evaluasi: waktu persiapan, validita">
            <a:extLst xmlns:a="http://schemas.openxmlformats.org/drawingml/2006/main">
              <a:ext uri="{FF2B5EF4-FFF2-40B4-BE49-F238E27FC236}">
                <a16:creationId xmlns:a16="http://schemas.microsoft.com/office/drawing/2014/main" id="{D09566C9-1B0E-4159-84B6-69285BB56049}"/>
              </a:ext>
            </a:extLst>
          </p:cNvPr>
          <p:cNvSpPr>
            <a:spLocks xmlns:a="http://schemas.openxmlformats.org/drawingml/2006/main" noGrp="1"/>
          </p:cNvSpPr>
          <p:nvPr/>
        </p:nvSpPr>
        <p:spPr>
          <a:xfrm xmlns:a="http://schemas.openxmlformats.org/drawingml/2006/main">
            <a:off x="685800" y="5629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FFFFFF"/>
                </a:solidFill>
                <a:latin typeface="Poppins"/>
                <a:ea typeface="Poppins"/>
                <a:cs typeface="Poppins"/>
              </a:defRPr>
            </a:defPPr>
          </a:lstStyle>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Indikator evaluasi: waktu persiapan, validitas soal, perubahan pemahaman.</a:t>
            </a:r>
          </a:p>
        </p:txBody>
      </p:sp>
    </p:spTree>
    <p:extLst>
      <p:ext uri="{BB962C8B-B14F-4D97-AF65-F5344CB8AC3E}">
        <p14:creationId xmlns:p14="http://schemas.microsoft.com/office/powerpoint/2010/main" val="2012684174"/>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Quexa">
            <a:extLst xmlns:a="http://schemas.openxmlformats.org/drawingml/2006/main">
              <a:ext uri="{FF2B5EF4-FFF2-40B4-BE49-F238E27FC236}">
                <a16:creationId xmlns:a16="http://schemas.microsoft.com/office/drawing/2014/main" id="{F390D299-1111-4FAA-B862-B6D9A182535B}"/>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Poppins"/>
                <a:ea typeface="Poppins"/>
                <a:cs typeface="Poppins"/>
              </a:defRPr>
            </a:defPPr>
          </a:lstStyle>
          <a:p xmlns:a="http://schemas.openxmlformats.org/drawingml/2006/main">
            <a:pPr>
              <a:defRPr sz="3300" b="1">
                <a:solidFill>
                  <a:srgbClr val="FFFFFF"/>
                </a:solidFill>
                <a:latin typeface="Poppins"/>
                <a:ea typeface="Poppins"/>
                <a:cs typeface="Poppins"/>
              </a:defRPr>
            </a:pPr>
            <a:r>
              <a:rPr sz="3300" b="1">
                <a:solidFill>
                  <a:srgbClr val="FFFFFF"/>
                </a:solidFill>
                <a:latin typeface="Poppins"/>
                <a:ea typeface="Poppins"/>
                <a:cs typeface="Poppins"/>
              </a:rPr>
              <a:t>Quexa</a:t>
            </a:r>
          </a:p>
        </p:txBody>
      </p:sp>
      <p:sp>
        <p:nvSpPr>
          <p:cNvPr id="2" name="10">
            <a:extLst xmlns:a="http://schemas.openxmlformats.org/drawingml/2006/main">
              <a:ext uri="{FF2B5EF4-FFF2-40B4-BE49-F238E27FC236}">
                <a16:creationId xmlns:a16="http://schemas.microsoft.com/office/drawing/2014/main" id="{FFC45272-5F4D-4F5A-AE40-4A1250BC1F1C}"/>
              </a:ext>
            </a:extLst>
          </p:cNvPr>
          <p:cNvSpPr>
            <a:spLocks xmlns:a="http://schemas.openxmlformats.org/drawingml/2006/main" noGrp="1"/>
          </p:cNvSpPr>
          <p:nvPr/>
        </p:nvSpPr>
        <p:spPr>
          <a:xfrm xmlns:a="http://schemas.openxmlformats.org/drawingml/2006/main">
            <a:off x="1104900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FFFFFF"/>
                </a:solidFill>
                <a:latin typeface="Poppins"/>
                <a:ea typeface="Poppins"/>
                <a:cs typeface="Poppins"/>
              </a:defRPr>
            </a:defPPr>
          </a:lstStyle>
          <a:p xmlns:a="http://schemas.openxmlformats.org/drawingml/2006/main">
            <a:pPr>
              <a:defRPr sz="1350" b="0">
                <a:solidFill>
                  <a:srgbClr val="FFFFFF"/>
                </a:solidFill>
                <a:latin typeface="Poppins"/>
                <a:ea typeface="Poppins"/>
                <a:cs typeface="Poppins"/>
              </a:defRPr>
            </a:pPr>
            <a:r>
              <a:rPr sz="1350" b="0">
                <a:solidFill>
                  <a:srgbClr val="FFFFFF"/>
                </a:solidFill>
                <a:latin typeface="Poppins"/>
                <a:ea typeface="Poppins"/>
                <a:cs typeface="Poppins"/>
              </a:rPr>
              <a:t>10</a:t>
            </a:r>
          </a:p>
        </p:txBody>
      </p:sp>
      <p:sp>
        <p:nvSpPr>
          <p:cNvPr id="3" name="Latihan dari materi sendiri,&#10;penguatan pada t">
            <a:extLst xmlns:a="http://schemas.openxmlformats.org/drawingml/2006/main">
              <a:ext uri="{FF2B5EF4-FFF2-40B4-BE49-F238E27FC236}">
                <a16:creationId xmlns:a16="http://schemas.microsoft.com/office/drawing/2014/main" id="{79E9E3F0-5A12-40C8-81B9-23346A74D454}"/>
              </a:ext>
            </a:extLst>
          </p:cNvPr>
          <p:cNvSpPr>
            <a:spLocks xmlns:a="http://schemas.openxmlformats.org/drawingml/2006/main" noGrp="1"/>
          </p:cNvSpPr>
          <p:nvPr/>
        </p:nvSpPr>
        <p:spPr>
          <a:xfrm xmlns:a="http://schemas.openxmlformats.org/drawingml/2006/main">
            <a:off x="685800" y="20193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Poppins"/>
                <a:ea typeface="Poppins"/>
                <a:cs typeface="Poppins"/>
              </a:defRPr>
            </a:defPPr>
          </a:lstStyle>
          <a:p xmlns:a="http://schemas.openxmlformats.org/drawingml/2006/main">
            <a:pPr>
              <a:defRPr sz="3375" b="1">
                <a:solidFill>
                  <a:srgbClr val="FFFFFF"/>
                </a:solidFill>
                <a:latin typeface="Poppins"/>
                <a:ea typeface="Poppins"/>
                <a:cs typeface="Poppins"/>
              </a:defRPr>
            </a:pPr>
            <a:r>
              <a:rPr sz="3375" b="1">
                <a:solidFill>
                  <a:srgbClr val="FFFFFF"/>
                </a:solidFill>
                <a:latin typeface="Poppins"/>
                <a:ea typeface="Poppins"/>
                <a:cs typeface="Poppins"/>
              </a:rPr>
              <a:t>Latihan dari materi sendiri,</a:t>
            </a:r>
          </a:p>
          <a:p xmlns:a="http://schemas.openxmlformats.org/drawingml/2006/main">
            <a:pPr>
              <a:defRPr sz="3375" b="1">
                <a:solidFill>
                  <a:srgbClr val="FFFFFF"/>
                </a:solidFill>
                <a:latin typeface="Poppins"/>
                <a:ea typeface="Poppins"/>
                <a:cs typeface="Poppins"/>
              </a:defRPr>
            </a:pPr>
            <a:r>
              <a:rPr sz="3375" b="1">
                <a:solidFill>
                  <a:srgbClr val="FFFFFF"/>
                </a:solidFill>
                <a:latin typeface="Poppins"/>
                <a:ea typeface="Poppins"/>
                <a:cs typeface="Poppins"/>
              </a:rPr>
              <a:t>penguatan pada topik yang salah</a:t>
            </a:r>
          </a:p>
        </p:txBody>
      </p:sp>
      <p:sp>
        <p:nvSpPr>
          <p:cNvPr id="4" name="Justin Jeremia&#10;Telkom University">
            <a:extLst xmlns:a="http://schemas.openxmlformats.org/drawingml/2006/main">
              <a:ext uri="{FF2B5EF4-FFF2-40B4-BE49-F238E27FC236}">
                <a16:creationId xmlns:a16="http://schemas.microsoft.com/office/drawing/2014/main" id="{20A1E90B-2E85-4F31-AD68-CC90167FC169}"/>
              </a:ext>
            </a:extLst>
          </p:cNvPr>
          <p:cNvSpPr>
            <a:spLocks xmlns:a="http://schemas.openxmlformats.org/drawingml/2006/main" noGrp="1"/>
          </p:cNvSpPr>
          <p:nvPr/>
        </p:nvSpPr>
        <p:spPr>
          <a:xfrm xmlns:a="http://schemas.openxmlformats.org/drawingml/2006/main">
            <a:off x="685800" y="4419600"/>
            <a:ext cx="952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Poppins"/>
                <a:ea typeface="Poppins"/>
                <a:cs typeface="Poppins"/>
              </a:defRPr>
            </a:defPPr>
          </a:lstStyle>
          <a:p xmlns:a="http://schemas.openxmlformats.org/drawingml/2006/main">
            <a:pPr>
              <a:defRPr sz="2100" b="0">
                <a:solidFill>
                  <a:srgbClr val="FFFFFF"/>
                </a:solidFill>
                <a:latin typeface="Poppins"/>
                <a:ea typeface="Poppins"/>
                <a:cs typeface="Poppins"/>
              </a:defRPr>
            </a:pPr>
            <a:r>
              <a:rPr sz="2100" b="0">
                <a:solidFill>
                  <a:srgbClr val="FFFFFF"/>
                </a:solidFill>
                <a:latin typeface="Poppins"/>
                <a:ea typeface="Poppins"/>
                <a:cs typeface="Poppins"/>
              </a:rPr>
              <a:t>Justin Jeremia</a:t>
            </a:r>
          </a:p>
          <a:p xmlns:a="http://schemas.openxmlformats.org/drawingml/2006/main">
            <a:pPr>
              <a:defRPr sz="2100" b="0">
                <a:solidFill>
                  <a:srgbClr val="FFFFFF"/>
                </a:solidFill>
                <a:latin typeface="Poppins"/>
                <a:ea typeface="Poppins"/>
                <a:cs typeface="Poppins"/>
              </a:defRPr>
            </a:pPr>
            <a:r>
              <a:rPr sz="2100" b="0">
                <a:solidFill>
                  <a:srgbClr val="FFFFFF"/>
                </a:solidFill>
                <a:latin typeface="Poppins"/>
                <a:ea typeface="Poppins"/>
                <a:cs typeface="Poppins"/>
              </a:rPr>
              <a:t>Telkom University</a:t>
            </a:r>
          </a:p>
        </p:txBody>
      </p:sp>
      <p:sp>
        <p:nvSpPr>
          <p:cNvPr id="5" name="github.com/jeremiajstin/Quexa">
            <a:extLst xmlns:a="http://schemas.openxmlformats.org/drawingml/2006/main">
              <a:ext uri="{FF2B5EF4-FFF2-40B4-BE49-F238E27FC236}">
                <a16:creationId xmlns:a16="http://schemas.microsoft.com/office/drawing/2014/main" id="{E327960E-9054-481D-8A21-4A926CEA16B7}"/>
              </a:ext>
            </a:extLst>
          </p:cNvPr>
          <p:cNvSpPr>
            <a:spLocks xmlns:a="http://schemas.openxmlformats.org/drawingml/2006/main" noGrp="1"/>
          </p:cNvSpPr>
          <p:nvPr/>
        </p:nvSpPr>
        <p:spPr>
          <a:xfrm xmlns:a="http://schemas.openxmlformats.org/drawingml/2006/main">
            <a:off x="685800" y="57245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Poppins"/>
                <a:ea typeface="Poppins"/>
                <a:cs typeface="Poppins"/>
              </a:defRPr>
            </a:defPPr>
          </a:lstStyle>
          <a:p xmlns:a="http://schemas.openxmlformats.org/drawingml/2006/main">
            <a:pPr>
              <a:defRPr sz="1875" b="0">
                <a:solidFill>
                  <a:srgbClr val="FFFFFF"/>
                </a:solidFill>
                <a:latin typeface="Poppins"/>
                <a:ea typeface="Poppins"/>
                <a:cs typeface="Poppins"/>
              </a:defRPr>
            </a:pPr>
            <a:r>
              <a:rPr sz="1875" b="0">
                <a:solidFill>
                  <a:srgbClr val="FFFFFF"/>
                </a:solidFill>
                <a:latin typeface="Poppins"/>
                <a:ea typeface="Poppins"/>
                <a:cs typeface="Poppins"/>
              </a:rPr>
              <a:t>github.com/jeremiajstin/Quexa</a:t>
            </a:r>
          </a:p>
        </p:txBody>
      </p:sp>
    </p:spTree>
    <p:extLst>
      <p:ext uri="{BB962C8B-B14F-4D97-AF65-F5344CB8AC3E}">
        <p14:creationId xmlns:p14="http://schemas.microsoft.com/office/powerpoint/2010/main" val="951538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2026-10-10T15:01:35.3220000Z</dcterms:created>
  <dcterms:modified xsi:type="dcterms:W3CDTF">2026-10-10T15:01:35.3220000Z</dcterms:modified>
</coreProperties>
</file>